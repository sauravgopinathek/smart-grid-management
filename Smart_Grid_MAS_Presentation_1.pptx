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9" d="100"/>
          <a:sy n="59"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9266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1</a:t>
            </a:r>
            <a:endParaRPr lang="en-US" sz="2400" dirty="0"/>
          </a:p>
        </p:txBody>
      </p:sp>
      <p:sp>
        <p:nvSpPr>
          <p:cNvPr id="4" name="Text 1"/>
          <p:cNvSpPr txBox="1"/>
          <p:nvPr/>
        </p:nvSpPr>
        <p:spPr>
          <a:xfrm>
            <a:off x="1188720" y="3657600"/>
            <a:ext cx="14630400" cy="1188720"/>
          </a:xfrm>
          <a:prstGeom prst="rect">
            <a:avLst/>
          </a:prstGeom>
          <a:noFill/>
          <a:ln/>
        </p:spPr>
        <p:txBody>
          <a:bodyPr wrap="square" lIns="0" tIns="0" rIns="0" bIns="0" rtlCol="0" anchor="ctr"/>
          <a:lstStyle/>
          <a:p>
            <a:pPr marL="0" indent="0" algn="ctr">
              <a:buNone/>
            </a:pPr>
            <a:r>
              <a:rPr lang="en-US" sz="6400" b="1" kern="0" spc="200" dirty="0">
                <a:solidFill>
                  <a:srgbClr val="FFFFFF"/>
                </a:solidFill>
                <a:latin typeface="Arial" pitchFamily="34" charset="0"/>
                <a:ea typeface="Arial" pitchFamily="34" charset="-122"/>
                <a:cs typeface="Arial" pitchFamily="34" charset="-120"/>
              </a:rPr>
              <a:t>SMART GRID</a:t>
            </a:r>
            <a:endParaRPr lang="en-US" sz="6400" dirty="0"/>
          </a:p>
        </p:txBody>
      </p:sp>
      <p:sp>
        <p:nvSpPr>
          <p:cNvPr id="5" name="Text 2"/>
          <p:cNvSpPr txBox="1"/>
          <p:nvPr/>
        </p:nvSpPr>
        <p:spPr>
          <a:xfrm>
            <a:off x="1188720" y="4709160"/>
            <a:ext cx="14630400" cy="914400"/>
          </a:xfrm>
          <a:prstGeom prst="rect">
            <a:avLst/>
          </a:prstGeom>
          <a:noFill/>
          <a:ln/>
        </p:spPr>
        <p:txBody>
          <a:bodyPr wrap="square" lIns="0" tIns="0" rIns="0" bIns="0" rtlCol="0" anchor="ctr"/>
          <a:lstStyle/>
          <a:p>
            <a:pPr marL="0" indent="0" algn="ctr">
              <a:buNone/>
            </a:pPr>
            <a:r>
              <a:rPr lang="en-US" sz="6000" kern="0" spc="100" dirty="0">
                <a:solidFill>
                  <a:srgbClr val="5EEAD4"/>
                </a:solidFill>
                <a:latin typeface="Arial" pitchFamily="34" charset="0"/>
                <a:ea typeface="Arial" pitchFamily="34" charset="-122"/>
                <a:cs typeface="Arial" pitchFamily="34" charset="-120"/>
              </a:rPr>
              <a:t>Management System</a:t>
            </a:r>
            <a:endParaRPr lang="en-US" sz="6000" dirty="0"/>
          </a:p>
        </p:txBody>
      </p:sp>
      <p:sp>
        <p:nvSpPr>
          <p:cNvPr id="6" name="Text 3"/>
          <p:cNvSpPr txBox="1"/>
          <p:nvPr/>
        </p:nvSpPr>
        <p:spPr>
          <a:xfrm>
            <a:off x="1188720" y="8138160"/>
            <a:ext cx="5486400" cy="411480"/>
          </a:xfrm>
          <a:prstGeom prst="rect">
            <a:avLst/>
          </a:prstGeom>
          <a:noFill/>
          <a:ln/>
        </p:spPr>
        <p:txBody>
          <a:bodyPr wrap="square" lIns="0" tIns="0" rIns="0" bIns="0" rtlCol="0" anchor="ctr"/>
          <a:lstStyle/>
          <a:p>
            <a:pPr marL="0" indent="0">
              <a:buNone/>
            </a:pPr>
            <a:r>
              <a:rPr lang="en-US" sz="4800" b="1" kern="0" spc="200" dirty="0">
                <a:solidFill>
                  <a:srgbClr val="7DD3FC"/>
                </a:solidFill>
                <a:latin typeface="Arial" pitchFamily="34" charset="0"/>
                <a:ea typeface="Arial" pitchFamily="34" charset="-122"/>
                <a:cs typeface="Arial" pitchFamily="34" charset="-120"/>
              </a:rPr>
              <a:t>PRESENTED BY</a:t>
            </a:r>
            <a:endParaRPr lang="en-US" sz="4800" dirty="0"/>
          </a:p>
        </p:txBody>
      </p:sp>
      <p:sp>
        <p:nvSpPr>
          <p:cNvPr id="7" name="Text 4"/>
          <p:cNvSpPr txBox="1"/>
          <p:nvPr/>
        </p:nvSpPr>
        <p:spPr>
          <a:xfrm>
            <a:off x="1188720" y="8869680"/>
            <a:ext cx="10972800" cy="914400"/>
          </a:xfrm>
          <a:prstGeom prst="rect">
            <a:avLst/>
          </a:prstGeom>
          <a:noFill/>
          <a:ln/>
        </p:spPr>
        <p:txBody>
          <a:bodyPr wrap="square" lIns="0" tIns="0" rIns="0" bIns="0" rtlCol="0" anchor="ctr"/>
          <a:lstStyle/>
          <a:p>
            <a:pPr marL="0" indent="0">
              <a:lnSpc>
                <a:spcPct val="130000"/>
              </a:lnSpc>
              <a:buNone/>
            </a:pPr>
            <a:r>
              <a:rPr lang="en-US" sz="3200" dirty="0">
                <a:solidFill>
                  <a:srgbClr val="D7E3EE"/>
                </a:solidFill>
                <a:latin typeface="Calibri" pitchFamily="34" charset="0"/>
                <a:ea typeface="Calibri" pitchFamily="34" charset="-122"/>
                <a:cs typeface="Calibri" pitchFamily="34" charset="-120"/>
              </a:rPr>
              <a:t>CB.SC.U4CSE23544  ·  S Bhuvanesh</a:t>
            </a:r>
            <a:endParaRPr lang="en-US" sz="3200" dirty="0"/>
          </a:p>
          <a:p>
            <a:pPr marL="0" indent="0">
              <a:lnSpc>
                <a:spcPct val="130000"/>
              </a:lnSpc>
              <a:buNone/>
            </a:pPr>
            <a:r>
              <a:rPr lang="en-US" sz="3200" dirty="0">
                <a:solidFill>
                  <a:srgbClr val="D7E3EE"/>
                </a:solidFill>
                <a:latin typeface="Calibri" pitchFamily="34" charset="0"/>
                <a:ea typeface="Calibri" pitchFamily="34" charset="-122"/>
                <a:cs typeface="Calibri" pitchFamily="34" charset="-120"/>
              </a:rPr>
              <a:t>CB.SC.U4CSE23546  ·  Saurav Gopinath E K</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2</a:t>
            </a:r>
            <a:endParaRPr lang="en-US" sz="2400" dirty="0"/>
          </a:p>
        </p:txBody>
      </p:sp>
      <p:sp>
        <p:nvSpPr>
          <p:cNvPr id="4" name="Text 1"/>
          <p:cNvSpPr txBox="1"/>
          <p:nvPr/>
        </p:nvSpPr>
        <p:spPr>
          <a:xfrm>
            <a:off x="1051560" y="502920"/>
            <a:ext cx="320040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2024743" y="868680"/>
            <a:ext cx="12801600" cy="1005840"/>
          </a:xfrm>
          <a:prstGeom prst="rect">
            <a:avLst/>
          </a:prstGeom>
          <a:noFill/>
          <a:ln/>
        </p:spPr>
        <p:txBody>
          <a:bodyPr wrap="square" lIns="0" tIns="0" rIns="0" bIns="0" rtlCol="0" anchor="ctr"/>
          <a:lstStyle/>
          <a:p>
            <a:pPr marL="0" indent="0" algn="ctr">
              <a:buNone/>
            </a:pPr>
            <a:r>
              <a:rPr lang="en-US" sz="4400" b="1" kern="0" spc="100" dirty="0">
                <a:solidFill>
                  <a:srgbClr val="FFFFFF"/>
                </a:solidFill>
                <a:latin typeface="Arial" pitchFamily="34" charset="0"/>
                <a:ea typeface="Arial" pitchFamily="34" charset="-122"/>
                <a:cs typeface="Arial" pitchFamily="34" charset="-120"/>
              </a:rPr>
              <a:t>PROBLEM DEFINITION</a:t>
            </a:r>
            <a:endParaRPr lang="en-US" sz="4400" dirty="0"/>
          </a:p>
        </p:txBody>
      </p:sp>
      <p:sp>
        <p:nvSpPr>
          <p:cNvPr id="6" name="Text 3"/>
          <p:cNvSpPr txBox="1"/>
          <p:nvPr/>
        </p:nvSpPr>
        <p:spPr>
          <a:xfrm>
            <a:off x="2024743" y="1851660"/>
            <a:ext cx="12801600" cy="502920"/>
          </a:xfrm>
          <a:prstGeom prst="rect">
            <a:avLst/>
          </a:prstGeom>
          <a:noFill/>
          <a:ln/>
        </p:spPr>
        <p:txBody>
          <a:bodyPr wrap="square" lIns="0" tIns="0" rIns="0" bIns="0" rtlCol="0" anchor="ctr"/>
          <a:lstStyle/>
          <a:p>
            <a:pPr marL="0" indent="0" algn="ctr">
              <a:buNone/>
            </a:pPr>
            <a:r>
              <a:rPr lang="en-US" sz="2000" b="1" kern="0" spc="200" dirty="0">
                <a:solidFill>
                  <a:srgbClr val="5EEAD4"/>
                </a:solidFill>
                <a:latin typeface="Arial" pitchFamily="34" charset="0"/>
                <a:ea typeface="Arial" pitchFamily="34" charset="-122"/>
                <a:cs typeface="Arial" pitchFamily="34" charset="-120"/>
              </a:rPr>
              <a:t>DECENTRALIZED ENERGY SHARING</a:t>
            </a:r>
            <a:endParaRPr lang="en-US" sz="2000" dirty="0"/>
          </a:p>
        </p:txBody>
      </p:sp>
      <p:sp>
        <p:nvSpPr>
          <p:cNvPr id="7" name="Shape 4"/>
          <p:cNvSpPr/>
          <p:nvPr/>
        </p:nvSpPr>
        <p:spPr>
          <a:xfrm>
            <a:off x="1188720" y="2743200"/>
            <a:ext cx="15910560" cy="1554480"/>
          </a:xfrm>
          <a:prstGeom prst="roundRect">
            <a:avLst>
              <a:gd name="adj" fmla="val 7059"/>
            </a:avLst>
          </a:prstGeom>
          <a:solidFill>
            <a:srgbClr val="0B1E33">
              <a:alpha val="70000"/>
            </a:srgbClr>
          </a:solidFill>
          <a:ln w="9525">
            <a:solidFill>
              <a:srgbClr val="3A6EA5">
                <a:alpha val="45000"/>
              </a:srgbClr>
            </a:solidFill>
            <a:prstDash val="solid"/>
          </a:ln>
        </p:spPr>
      </p:sp>
      <p:sp>
        <p:nvSpPr>
          <p:cNvPr id="8" name="Text 5"/>
          <p:cNvSpPr txBox="1"/>
          <p:nvPr/>
        </p:nvSpPr>
        <p:spPr>
          <a:xfrm>
            <a:off x="1554480" y="2743200"/>
            <a:ext cx="15179040" cy="1554480"/>
          </a:xfrm>
          <a:prstGeom prst="rect">
            <a:avLst/>
          </a:prstGeom>
          <a:noFill/>
          <a:ln/>
        </p:spPr>
        <p:txBody>
          <a:bodyPr wrap="square" lIns="101600" tIns="101600" rIns="101600" bIns="101600" rtlCol="0" anchor="ctr"/>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Individual household agents with solar panels and batteries must decide whether to store, consume, or sell electricity back to the grid — with no central authority coordinating them.</a:t>
            </a:r>
            <a:endParaRPr lang="en-US" sz="2400" dirty="0"/>
          </a:p>
        </p:txBody>
      </p:sp>
      <p:sp>
        <p:nvSpPr>
          <p:cNvPr id="9" name="Shape 6"/>
          <p:cNvSpPr/>
          <p:nvPr/>
        </p:nvSpPr>
        <p:spPr>
          <a:xfrm>
            <a:off x="1188720" y="4526280"/>
            <a:ext cx="15910560" cy="1554480"/>
          </a:xfrm>
          <a:prstGeom prst="roundRect">
            <a:avLst>
              <a:gd name="adj" fmla="val 7059"/>
            </a:avLst>
          </a:prstGeom>
          <a:solidFill>
            <a:srgbClr val="0B1E33">
              <a:alpha val="70000"/>
            </a:srgbClr>
          </a:solidFill>
          <a:ln w="9525">
            <a:solidFill>
              <a:srgbClr val="3A6EA5">
                <a:alpha val="45000"/>
              </a:srgbClr>
            </a:solidFill>
            <a:prstDash val="solid"/>
          </a:ln>
        </p:spPr>
        <p:txBody>
          <a:bodyPr/>
          <a:lstStyle/>
          <a:p>
            <a:endParaRPr lang="en-IN" dirty="0"/>
          </a:p>
        </p:txBody>
      </p:sp>
      <p:sp>
        <p:nvSpPr>
          <p:cNvPr id="10" name="Text 7"/>
          <p:cNvSpPr txBox="1"/>
          <p:nvPr/>
        </p:nvSpPr>
        <p:spPr>
          <a:xfrm>
            <a:off x="1554480" y="4526280"/>
            <a:ext cx="15179040" cy="1554480"/>
          </a:xfrm>
          <a:prstGeom prst="rect">
            <a:avLst/>
          </a:prstGeom>
          <a:noFill/>
          <a:ln/>
        </p:spPr>
        <p:txBody>
          <a:bodyPr wrap="square" lIns="101600" tIns="101600" rIns="101600" bIns="101600" rtlCol="0" anchor="ctr"/>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Agents communicate surplus and deficit signals and cooperate through an auction or negotiation protocol so the neighborhood balances peak load on its own.</a:t>
            </a:r>
            <a:endParaRPr lang="en-US" sz="2400" dirty="0"/>
          </a:p>
        </p:txBody>
      </p:sp>
      <p:sp>
        <p:nvSpPr>
          <p:cNvPr id="14" name="Shape 6">
            <a:extLst>
              <a:ext uri="{FF2B5EF4-FFF2-40B4-BE49-F238E27FC236}">
                <a16:creationId xmlns:a16="http://schemas.microsoft.com/office/drawing/2014/main" id="{F9DAAE7E-0082-7040-4D66-1AB061DBE1BB}"/>
              </a:ext>
            </a:extLst>
          </p:cNvPr>
          <p:cNvSpPr/>
          <p:nvPr/>
        </p:nvSpPr>
        <p:spPr>
          <a:xfrm>
            <a:off x="1188720" y="6583680"/>
            <a:ext cx="15910560" cy="1554480"/>
          </a:xfrm>
          <a:prstGeom prst="roundRect">
            <a:avLst>
              <a:gd name="adj" fmla="val 7059"/>
            </a:avLst>
          </a:prstGeom>
          <a:solidFill>
            <a:srgbClr val="0B1E33">
              <a:alpha val="70000"/>
            </a:srgbClr>
          </a:solidFill>
          <a:ln w="9525">
            <a:solidFill>
              <a:srgbClr val="3A6EA5">
                <a:alpha val="45000"/>
              </a:srgbClr>
            </a:solidFill>
            <a:prstDash val="solid"/>
          </a:ln>
        </p:spPr>
        <p:txBody>
          <a:bodyPr/>
          <a:lstStyle/>
          <a:p>
            <a:pPr>
              <a:lnSpc>
                <a:spcPct val="100000"/>
              </a:lnSpc>
            </a:pPr>
            <a:r>
              <a:rPr lang="en-IN" sz="2400" dirty="0">
                <a:solidFill>
                  <a:schemeClr val="bg2"/>
                </a:solidFill>
              </a:rPr>
              <a:t>The system models autonomous households that manage local energy, negotiate peer-to-peer trades and use the utility grid when local resources are insufficient.</a:t>
            </a:r>
            <a:endParaRPr lang="en-US" sz="2400" dirty="0">
              <a:solidFill>
                <a:schemeClr val="bg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3</a:t>
            </a:r>
            <a:endParaRPr lang="en-US" sz="2400" dirty="0"/>
          </a:p>
        </p:txBody>
      </p:sp>
      <p:sp>
        <p:nvSpPr>
          <p:cNvPr id="4" name="Text 1"/>
          <p:cNvSpPr txBox="1"/>
          <p:nvPr/>
        </p:nvSpPr>
        <p:spPr>
          <a:xfrm>
            <a:off x="14996160" y="502920"/>
            <a:ext cx="301752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5316583" y="800100"/>
            <a:ext cx="10972800" cy="1005840"/>
          </a:xfrm>
          <a:prstGeom prst="rect">
            <a:avLst/>
          </a:prstGeom>
          <a:noFill/>
          <a:ln/>
        </p:spPr>
        <p:txBody>
          <a:bodyPr wrap="square" lIns="0" tIns="0" rIns="0" bIns="0" rtlCol="0" anchor="ctr"/>
          <a:lstStyle/>
          <a:p>
            <a:pPr marL="0" indent="0" algn="l">
              <a:buNone/>
            </a:pPr>
            <a:r>
              <a:rPr lang="en-US" sz="4400" b="1" kern="0" spc="100" dirty="0">
                <a:solidFill>
                  <a:srgbClr val="FFFFFF"/>
                </a:solidFill>
                <a:latin typeface="Arial" pitchFamily="34" charset="0"/>
                <a:ea typeface="Arial" pitchFamily="34" charset="-122"/>
                <a:cs typeface="Arial" pitchFamily="34" charset="-120"/>
              </a:rPr>
              <a:t>WHY MULTI AGENT?</a:t>
            </a:r>
            <a:endParaRPr lang="en-US" sz="4400" dirty="0"/>
          </a:p>
        </p:txBody>
      </p:sp>
      <p:sp>
        <p:nvSpPr>
          <p:cNvPr id="6" name="Text 3"/>
          <p:cNvSpPr txBox="1"/>
          <p:nvPr/>
        </p:nvSpPr>
        <p:spPr>
          <a:xfrm>
            <a:off x="5878286" y="1701437"/>
            <a:ext cx="12801600" cy="502920"/>
          </a:xfrm>
          <a:prstGeom prst="rect">
            <a:avLst/>
          </a:prstGeom>
          <a:noFill/>
          <a:ln/>
        </p:spPr>
        <p:txBody>
          <a:bodyPr wrap="square" lIns="0" tIns="0" rIns="0" bIns="0" rtlCol="0" anchor="ctr"/>
          <a:lstStyle/>
          <a:p>
            <a:pPr marL="0" indent="0" algn="l">
              <a:buNone/>
            </a:pPr>
            <a:r>
              <a:rPr lang="en-US" sz="2000" b="1" kern="0" spc="200" dirty="0">
                <a:solidFill>
                  <a:srgbClr val="5EEAD4"/>
                </a:solidFill>
                <a:latin typeface="Arial" pitchFamily="34" charset="0"/>
                <a:ea typeface="Arial" pitchFamily="34" charset="-122"/>
                <a:cs typeface="Arial" pitchFamily="34" charset="-120"/>
              </a:rPr>
              <a:t>AUTONOMY &amp; COOPERATION</a:t>
            </a:r>
            <a:endParaRPr lang="en-US" sz="2000" dirty="0"/>
          </a:p>
        </p:txBody>
      </p:sp>
      <p:sp>
        <p:nvSpPr>
          <p:cNvPr id="7" name="Shape 4"/>
          <p:cNvSpPr/>
          <p:nvPr/>
        </p:nvSpPr>
        <p:spPr>
          <a:xfrm>
            <a:off x="1188720" y="2514600"/>
            <a:ext cx="15910560" cy="1965960"/>
          </a:xfrm>
          <a:prstGeom prst="roundRect">
            <a:avLst>
              <a:gd name="adj" fmla="val 5581"/>
            </a:avLst>
          </a:prstGeom>
          <a:solidFill>
            <a:srgbClr val="0B1E33">
              <a:alpha val="70000"/>
            </a:srgbClr>
          </a:solidFill>
          <a:ln w="9525">
            <a:solidFill>
              <a:srgbClr val="3A6EA5">
                <a:alpha val="45000"/>
              </a:srgbClr>
            </a:solidFill>
            <a:prstDash val="solid"/>
          </a:ln>
        </p:spPr>
      </p:sp>
      <p:sp>
        <p:nvSpPr>
          <p:cNvPr id="8" name="Text 5"/>
          <p:cNvSpPr txBox="1"/>
          <p:nvPr/>
        </p:nvSpPr>
        <p:spPr>
          <a:xfrm>
            <a:off x="1508760" y="2514600"/>
            <a:ext cx="1188720" cy="1965960"/>
          </a:xfrm>
          <a:prstGeom prst="rect">
            <a:avLst/>
          </a:prstGeom>
          <a:noFill/>
          <a:ln/>
        </p:spPr>
        <p:txBody>
          <a:bodyPr wrap="square" lIns="0" tIns="0" rIns="0" bIns="0" rtlCol="0" anchor="ctr"/>
          <a:lstStyle/>
          <a:p>
            <a:pPr marL="0" indent="0">
              <a:buNone/>
            </a:pPr>
            <a:r>
              <a:rPr lang="en-US" sz="3400" b="1" dirty="0">
                <a:solidFill>
                  <a:srgbClr val="5EEAD4"/>
                </a:solidFill>
                <a:latin typeface="Arial" pitchFamily="34" charset="0"/>
                <a:ea typeface="Arial" pitchFamily="34" charset="-122"/>
                <a:cs typeface="Arial" pitchFamily="34" charset="-120"/>
              </a:rPr>
              <a:t>01</a:t>
            </a:r>
            <a:endParaRPr lang="en-US" sz="3400" dirty="0"/>
          </a:p>
        </p:txBody>
      </p:sp>
      <p:sp>
        <p:nvSpPr>
          <p:cNvPr id="9" name="Text 6"/>
          <p:cNvSpPr txBox="1"/>
          <p:nvPr/>
        </p:nvSpPr>
        <p:spPr>
          <a:xfrm>
            <a:off x="2834640" y="2514600"/>
            <a:ext cx="13898880" cy="1965960"/>
          </a:xfrm>
          <a:prstGeom prst="rect">
            <a:avLst/>
          </a:prstGeom>
          <a:noFill/>
          <a:ln/>
        </p:spPr>
        <p:txBody>
          <a:bodyPr wrap="square" lIns="101600" tIns="101600" rIns="101600" bIns="101600" rtlCol="0" anchor="ctr"/>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Local decisions plus agent-to-agent communication let the neighborhood coordinate without a central authority. Households act as autonomous agents — each senses its own solar generation, battery state, and demand, then decides locally to store, consume, sell, or buy energy without waiting for a central controller.</a:t>
            </a:r>
            <a:endParaRPr lang="en-US" sz="2400" dirty="0"/>
          </a:p>
        </p:txBody>
      </p:sp>
      <p:sp>
        <p:nvSpPr>
          <p:cNvPr id="10" name="Shape 7"/>
          <p:cNvSpPr/>
          <p:nvPr/>
        </p:nvSpPr>
        <p:spPr>
          <a:xfrm>
            <a:off x="1188720" y="4709160"/>
            <a:ext cx="15910560" cy="1417320"/>
          </a:xfrm>
          <a:prstGeom prst="roundRect">
            <a:avLst>
              <a:gd name="adj" fmla="val 7742"/>
            </a:avLst>
          </a:prstGeom>
          <a:solidFill>
            <a:srgbClr val="0B1E33">
              <a:alpha val="70000"/>
            </a:srgbClr>
          </a:solidFill>
          <a:ln w="9525">
            <a:solidFill>
              <a:srgbClr val="3A6EA5">
                <a:alpha val="45000"/>
              </a:srgbClr>
            </a:solidFill>
            <a:prstDash val="solid"/>
          </a:ln>
        </p:spPr>
      </p:sp>
      <p:sp>
        <p:nvSpPr>
          <p:cNvPr id="11" name="Text 8"/>
          <p:cNvSpPr txBox="1"/>
          <p:nvPr/>
        </p:nvSpPr>
        <p:spPr>
          <a:xfrm>
            <a:off x="1508760" y="4709160"/>
            <a:ext cx="1188720" cy="1417320"/>
          </a:xfrm>
          <a:prstGeom prst="rect">
            <a:avLst/>
          </a:prstGeom>
          <a:noFill/>
          <a:ln/>
        </p:spPr>
        <p:txBody>
          <a:bodyPr wrap="square" lIns="0" tIns="0" rIns="0" bIns="0" rtlCol="0" anchor="ctr"/>
          <a:lstStyle/>
          <a:p>
            <a:pPr marL="0" indent="0">
              <a:buNone/>
            </a:pPr>
            <a:r>
              <a:rPr lang="en-US" sz="3400" b="1" dirty="0">
                <a:solidFill>
                  <a:srgbClr val="5EEAD4"/>
                </a:solidFill>
                <a:latin typeface="Arial" pitchFamily="34" charset="0"/>
                <a:ea typeface="Arial" pitchFamily="34" charset="-122"/>
                <a:cs typeface="Arial" pitchFamily="34" charset="-120"/>
              </a:rPr>
              <a:t>02</a:t>
            </a:r>
            <a:endParaRPr lang="en-US" sz="3400" dirty="0"/>
          </a:p>
        </p:txBody>
      </p:sp>
      <p:sp>
        <p:nvSpPr>
          <p:cNvPr id="12" name="Text 9"/>
          <p:cNvSpPr txBox="1"/>
          <p:nvPr/>
        </p:nvSpPr>
        <p:spPr>
          <a:xfrm>
            <a:off x="2834640" y="4709160"/>
            <a:ext cx="13898880" cy="1417320"/>
          </a:xfrm>
          <a:prstGeom prst="rect">
            <a:avLst/>
          </a:prstGeom>
          <a:noFill/>
          <a:ln/>
        </p:spPr>
        <p:txBody>
          <a:bodyPr wrap="square" lIns="101600" tIns="101600" rIns="101600" bIns="101600" rtlCol="0" anchor="ctr"/>
          <a:lstStyle/>
          <a:p>
            <a:r>
              <a:rPr lang="en-IN" sz="2400" dirty="0">
                <a:solidFill>
                  <a:schemeClr val="bg1"/>
                </a:solidFill>
              </a:rPr>
              <a:t>A centralized controller can become a coordination bottleneck as the number of households grows. Local agents can make decisions and coordinate with nearby agents</a:t>
            </a:r>
            <a:endParaRPr lang="en-US" sz="2400" dirty="0">
              <a:solidFill>
                <a:schemeClr val="bg1"/>
              </a:solidFill>
            </a:endParaRPr>
          </a:p>
        </p:txBody>
      </p:sp>
      <p:sp>
        <p:nvSpPr>
          <p:cNvPr id="13" name="Shape 10"/>
          <p:cNvSpPr/>
          <p:nvPr/>
        </p:nvSpPr>
        <p:spPr>
          <a:xfrm>
            <a:off x="1188720" y="6355080"/>
            <a:ext cx="15910560" cy="1234440"/>
          </a:xfrm>
          <a:prstGeom prst="roundRect">
            <a:avLst>
              <a:gd name="adj" fmla="val 8889"/>
            </a:avLst>
          </a:prstGeom>
          <a:solidFill>
            <a:srgbClr val="0B1E33">
              <a:alpha val="70000"/>
            </a:srgbClr>
          </a:solidFill>
          <a:ln w="9525">
            <a:solidFill>
              <a:srgbClr val="3A6EA5">
                <a:alpha val="45000"/>
              </a:srgbClr>
            </a:solidFill>
            <a:prstDash val="solid"/>
          </a:ln>
        </p:spPr>
      </p:sp>
      <p:sp>
        <p:nvSpPr>
          <p:cNvPr id="14" name="Text 11"/>
          <p:cNvSpPr txBox="1"/>
          <p:nvPr/>
        </p:nvSpPr>
        <p:spPr>
          <a:xfrm>
            <a:off x="1508760" y="6355080"/>
            <a:ext cx="1188720" cy="1234440"/>
          </a:xfrm>
          <a:prstGeom prst="rect">
            <a:avLst/>
          </a:prstGeom>
          <a:noFill/>
          <a:ln/>
        </p:spPr>
        <p:txBody>
          <a:bodyPr wrap="square" lIns="0" tIns="0" rIns="0" bIns="0" rtlCol="0" anchor="ctr"/>
          <a:lstStyle/>
          <a:p>
            <a:pPr marL="0" indent="0">
              <a:buNone/>
            </a:pPr>
            <a:r>
              <a:rPr lang="en-US" sz="3400" b="1" dirty="0">
                <a:solidFill>
                  <a:srgbClr val="5EEAD4"/>
                </a:solidFill>
                <a:latin typeface="Arial" pitchFamily="34" charset="0"/>
                <a:ea typeface="Arial" pitchFamily="34" charset="-122"/>
                <a:cs typeface="Arial" pitchFamily="34" charset="-120"/>
              </a:rPr>
              <a:t>03</a:t>
            </a:r>
            <a:endParaRPr lang="en-US" sz="3400" dirty="0"/>
          </a:p>
        </p:txBody>
      </p:sp>
      <p:sp>
        <p:nvSpPr>
          <p:cNvPr id="15" name="Text 12"/>
          <p:cNvSpPr txBox="1"/>
          <p:nvPr/>
        </p:nvSpPr>
        <p:spPr>
          <a:xfrm>
            <a:off x="2834640" y="6355080"/>
            <a:ext cx="13898880" cy="1234440"/>
          </a:xfrm>
          <a:prstGeom prst="rect">
            <a:avLst/>
          </a:prstGeom>
          <a:noFill/>
          <a:ln/>
        </p:spPr>
        <p:txBody>
          <a:bodyPr wrap="square" lIns="101600" tIns="101600" rIns="101600" bIns="101600" rtlCol="0" anchor="ctr"/>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Agents cooperate on individual energy states, and since other agents' actions change the shared environment, the state stays dynamic.</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4</a:t>
            </a:r>
            <a:endParaRPr lang="en-US" sz="2400" dirty="0"/>
          </a:p>
        </p:txBody>
      </p:sp>
      <p:sp>
        <p:nvSpPr>
          <p:cNvPr id="4" name="Text 1"/>
          <p:cNvSpPr txBox="1"/>
          <p:nvPr/>
        </p:nvSpPr>
        <p:spPr>
          <a:xfrm>
            <a:off x="1051560" y="502920"/>
            <a:ext cx="320040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940526" y="274320"/>
            <a:ext cx="12801600" cy="1005840"/>
          </a:xfrm>
          <a:prstGeom prst="rect">
            <a:avLst/>
          </a:prstGeom>
          <a:noFill/>
          <a:ln/>
        </p:spPr>
        <p:txBody>
          <a:bodyPr wrap="square" lIns="0" tIns="0" rIns="0" bIns="0" rtlCol="0" anchor="ctr"/>
          <a:lstStyle/>
          <a:p>
            <a:pPr marL="0" indent="0" algn="l">
              <a:buNone/>
            </a:pPr>
            <a:endParaRPr lang="en-US" sz="4400" dirty="0"/>
          </a:p>
        </p:txBody>
      </p:sp>
      <p:sp>
        <p:nvSpPr>
          <p:cNvPr id="6" name="Text 3"/>
          <p:cNvSpPr txBox="1"/>
          <p:nvPr/>
        </p:nvSpPr>
        <p:spPr>
          <a:xfrm>
            <a:off x="1188720" y="1263754"/>
            <a:ext cx="12801600" cy="502920"/>
          </a:xfrm>
          <a:prstGeom prst="rect">
            <a:avLst/>
          </a:prstGeom>
          <a:noFill/>
          <a:ln/>
        </p:spPr>
        <p:txBody>
          <a:bodyPr wrap="square" lIns="0" tIns="0" rIns="0" bIns="0" rtlCol="0" anchor="ctr"/>
          <a:lstStyle/>
          <a:p>
            <a:pPr marL="0" indent="0" algn="l">
              <a:buNone/>
            </a:pPr>
            <a:endParaRPr lang="en-US" sz="2000" dirty="0"/>
          </a:p>
        </p:txBody>
      </p:sp>
      <p:pic>
        <p:nvPicPr>
          <p:cNvPr id="11" name="Picture 10">
            <a:extLst>
              <a:ext uri="{FF2B5EF4-FFF2-40B4-BE49-F238E27FC236}">
                <a16:creationId xmlns:a16="http://schemas.microsoft.com/office/drawing/2014/main" id="{B04E9AB5-BB07-EAFB-C5EE-26F1F35930F6}"/>
              </a:ext>
            </a:extLst>
          </p:cNvPr>
          <p:cNvPicPr>
            <a:picLocks noChangeAspect="1"/>
          </p:cNvPicPr>
          <p:nvPr/>
        </p:nvPicPr>
        <p:blipFill>
          <a:blip r:embed="rId4"/>
          <a:stretch>
            <a:fillRect/>
          </a:stretch>
        </p:blipFill>
        <p:spPr>
          <a:xfrm>
            <a:off x="1181100" y="661987"/>
            <a:ext cx="15925800" cy="8963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5</a:t>
            </a:r>
            <a:endParaRPr lang="en-US" sz="2400" dirty="0"/>
          </a:p>
        </p:txBody>
      </p:sp>
      <p:sp>
        <p:nvSpPr>
          <p:cNvPr id="4" name="Text 1"/>
          <p:cNvSpPr txBox="1"/>
          <p:nvPr/>
        </p:nvSpPr>
        <p:spPr>
          <a:xfrm>
            <a:off x="14996160" y="502920"/>
            <a:ext cx="301752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3383280" y="685800"/>
            <a:ext cx="13716000" cy="1005840"/>
          </a:xfrm>
          <a:prstGeom prst="rect">
            <a:avLst/>
          </a:prstGeom>
          <a:noFill/>
          <a:ln/>
        </p:spPr>
        <p:txBody>
          <a:bodyPr wrap="square" lIns="0" tIns="0" rIns="0" bIns="0" rtlCol="0" anchor="ctr"/>
          <a:lstStyle/>
          <a:p>
            <a:pPr marL="0" indent="0" algn="l">
              <a:buNone/>
            </a:pPr>
            <a:r>
              <a:rPr lang="en-US" sz="4400" b="1" kern="0" spc="100" dirty="0">
                <a:solidFill>
                  <a:srgbClr val="FFFFFF"/>
                </a:solidFill>
                <a:latin typeface="Arial" pitchFamily="34" charset="0"/>
                <a:ea typeface="Arial" pitchFamily="34" charset="-122"/>
                <a:cs typeface="Arial" pitchFamily="34" charset="-120"/>
              </a:rPr>
              <a:t>LOCAL ACTIONS, GLOBAL IMPACT</a:t>
            </a:r>
            <a:endParaRPr lang="en-US" sz="4400" dirty="0"/>
          </a:p>
        </p:txBody>
      </p:sp>
      <p:sp>
        <p:nvSpPr>
          <p:cNvPr id="6" name="Text 3"/>
          <p:cNvSpPr txBox="1"/>
          <p:nvPr/>
        </p:nvSpPr>
        <p:spPr>
          <a:xfrm>
            <a:off x="6800850" y="1577340"/>
            <a:ext cx="12801600" cy="502920"/>
          </a:xfrm>
          <a:prstGeom prst="rect">
            <a:avLst/>
          </a:prstGeom>
          <a:noFill/>
          <a:ln/>
        </p:spPr>
        <p:txBody>
          <a:bodyPr wrap="square" lIns="0" tIns="0" rIns="0" bIns="0" rtlCol="0" anchor="ctr"/>
          <a:lstStyle/>
          <a:p>
            <a:pPr marL="0" indent="0" algn="l">
              <a:buNone/>
            </a:pPr>
            <a:r>
              <a:rPr lang="en-US" sz="2000" b="1" kern="0" spc="200" dirty="0">
                <a:solidFill>
                  <a:srgbClr val="5EEAD4"/>
                </a:solidFill>
                <a:latin typeface="Arial" pitchFamily="34" charset="0"/>
                <a:ea typeface="Arial" pitchFamily="34" charset="-122"/>
                <a:cs typeface="Arial" pitchFamily="34" charset="-120"/>
              </a:rPr>
              <a:t>PEAS FRAMEWORK</a:t>
            </a:r>
            <a:endParaRPr lang="en-US" sz="2000" dirty="0"/>
          </a:p>
        </p:txBody>
      </p:sp>
      <p:sp>
        <p:nvSpPr>
          <p:cNvPr id="7" name="Shape 4"/>
          <p:cNvSpPr/>
          <p:nvPr/>
        </p:nvSpPr>
        <p:spPr>
          <a:xfrm>
            <a:off x="1188720" y="2423160"/>
            <a:ext cx="7795260" cy="2926080"/>
          </a:xfrm>
          <a:prstGeom prst="roundRect">
            <a:avLst>
              <a:gd name="adj" fmla="val 3750"/>
            </a:avLst>
          </a:prstGeom>
          <a:solidFill>
            <a:srgbClr val="0B1E33">
              <a:alpha val="70000"/>
            </a:srgbClr>
          </a:solidFill>
          <a:ln w="9525">
            <a:solidFill>
              <a:srgbClr val="3A6EA5">
                <a:alpha val="45000"/>
              </a:srgbClr>
            </a:solidFill>
            <a:prstDash val="solid"/>
          </a:ln>
        </p:spPr>
      </p:sp>
      <p:sp>
        <p:nvSpPr>
          <p:cNvPr id="8" name="Text 5"/>
          <p:cNvSpPr txBox="1"/>
          <p:nvPr/>
        </p:nvSpPr>
        <p:spPr>
          <a:xfrm>
            <a:off x="1508760" y="2651760"/>
            <a:ext cx="7155180" cy="457200"/>
          </a:xfrm>
          <a:prstGeom prst="rect">
            <a:avLst/>
          </a:prstGeom>
          <a:noFill/>
          <a:ln/>
        </p:spPr>
        <p:txBody>
          <a:bodyPr wrap="square" lIns="0" tIns="0" rIns="0" bIns="0" rtlCol="0" anchor="ctr"/>
          <a:lstStyle/>
          <a:p>
            <a:pPr marL="0" indent="0" algn="l">
              <a:buNone/>
            </a:pPr>
            <a:r>
              <a:rPr lang="en-US" sz="2800" b="1" kern="0" spc="100" dirty="0">
                <a:solidFill>
                  <a:srgbClr val="7DD3FC"/>
                </a:solidFill>
                <a:latin typeface="Arial" pitchFamily="34" charset="0"/>
                <a:ea typeface="Arial" pitchFamily="34" charset="-122"/>
                <a:cs typeface="Arial" pitchFamily="34" charset="-120"/>
              </a:rPr>
              <a:t>PERFORMANCE</a:t>
            </a:r>
            <a:endParaRPr lang="en-US" sz="2800" dirty="0"/>
          </a:p>
        </p:txBody>
      </p:sp>
      <p:sp>
        <p:nvSpPr>
          <p:cNvPr id="9" name="Text 6"/>
          <p:cNvSpPr txBox="1"/>
          <p:nvPr/>
        </p:nvSpPr>
        <p:spPr>
          <a:xfrm>
            <a:off x="1508760" y="3200400"/>
            <a:ext cx="7155180" cy="192024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Balance neighborhood load, cut energy cost where possible, maximize renewable use, and avoid shortages or overload.</a:t>
            </a:r>
            <a:endParaRPr lang="en-US" sz="2400" dirty="0"/>
          </a:p>
        </p:txBody>
      </p:sp>
      <p:sp>
        <p:nvSpPr>
          <p:cNvPr id="10" name="Shape 7"/>
          <p:cNvSpPr/>
          <p:nvPr/>
        </p:nvSpPr>
        <p:spPr>
          <a:xfrm>
            <a:off x="9304020" y="2423160"/>
            <a:ext cx="7795260" cy="2926080"/>
          </a:xfrm>
          <a:prstGeom prst="roundRect">
            <a:avLst>
              <a:gd name="adj" fmla="val 3750"/>
            </a:avLst>
          </a:prstGeom>
          <a:solidFill>
            <a:srgbClr val="0B1E33">
              <a:alpha val="70000"/>
            </a:srgbClr>
          </a:solidFill>
          <a:ln w="9525">
            <a:solidFill>
              <a:srgbClr val="3A6EA5">
                <a:alpha val="45000"/>
              </a:srgbClr>
            </a:solidFill>
            <a:prstDash val="solid"/>
          </a:ln>
        </p:spPr>
      </p:sp>
      <p:sp>
        <p:nvSpPr>
          <p:cNvPr id="11" name="Text 8"/>
          <p:cNvSpPr txBox="1"/>
          <p:nvPr/>
        </p:nvSpPr>
        <p:spPr>
          <a:xfrm>
            <a:off x="9624060" y="2651760"/>
            <a:ext cx="7155180" cy="457200"/>
          </a:xfrm>
          <a:prstGeom prst="rect">
            <a:avLst/>
          </a:prstGeom>
          <a:noFill/>
          <a:ln/>
        </p:spPr>
        <p:txBody>
          <a:bodyPr wrap="square" lIns="0" tIns="0" rIns="0" bIns="0" rtlCol="0" anchor="ctr"/>
          <a:lstStyle/>
          <a:p>
            <a:pPr marL="0" indent="0" algn="l">
              <a:buNone/>
            </a:pPr>
            <a:r>
              <a:rPr lang="en-US" sz="2800" b="1" kern="0" spc="100" dirty="0">
                <a:solidFill>
                  <a:srgbClr val="7DD3FC"/>
                </a:solidFill>
                <a:latin typeface="Arial" pitchFamily="34" charset="0"/>
                <a:ea typeface="Arial" pitchFamily="34" charset="-122"/>
                <a:cs typeface="Arial" pitchFamily="34" charset="-120"/>
              </a:rPr>
              <a:t>ENVIRONMENT</a:t>
            </a:r>
            <a:endParaRPr lang="en-US" sz="2800" dirty="0"/>
          </a:p>
        </p:txBody>
      </p:sp>
      <p:sp>
        <p:nvSpPr>
          <p:cNvPr id="12" name="Text 9"/>
          <p:cNvSpPr txBox="1"/>
          <p:nvPr/>
        </p:nvSpPr>
        <p:spPr>
          <a:xfrm>
            <a:off x="9624060" y="3200400"/>
            <a:ext cx="7155180" cy="192024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Household nodes, solar generation, batteries, electricity demand, the grid, and every other household agent on the network — many agents acting at once reshapes the whole neighborhood's load.</a:t>
            </a:r>
            <a:endParaRPr lang="en-US" sz="2400" dirty="0"/>
          </a:p>
        </p:txBody>
      </p:sp>
      <p:sp>
        <p:nvSpPr>
          <p:cNvPr id="13" name="Shape 10"/>
          <p:cNvSpPr/>
          <p:nvPr/>
        </p:nvSpPr>
        <p:spPr>
          <a:xfrm>
            <a:off x="1188720" y="5669280"/>
            <a:ext cx="7795260" cy="2926080"/>
          </a:xfrm>
          <a:prstGeom prst="roundRect">
            <a:avLst>
              <a:gd name="adj" fmla="val 3750"/>
            </a:avLst>
          </a:prstGeom>
          <a:solidFill>
            <a:srgbClr val="0B1E33">
              <a:alpha val="70000"/>
            </a:srgbClr>
          </a:solidFill>
          <a:ln w="9525">
            <a:solidFill>
              <a:srgbClr val="3A6EA5">
                <a:alpha val="45000"/>
              </a:srgbClr>
            </a:solidFill>
            <a:prstDash val="solid"/>
          </a:ln>
        </p:spPr>
      </p:sp>
      <p:sp>
        <p:nvSpPr>
          <p:cNvPr id="14" name="Text 11"/>
          <p:cNvSpPr txBox="1"/>
          <p:nvPr/>
        </p:nvSpPr>
        <p:spPr>
          <a:xfrm>
            <a:off x="1508760" y="5897880"/>
            <a:ext cx="7155180" cy="457200"/>
          </a:xfrm>
          <a:prstGeom prst="rect">
            <a:avLst/>
          </a:prstGeom>
          <a:noFill/>
          <a:ln/>
        </p:spPr>
        <p:txBody>
          <a:bodyPr wrap="square" lIns="0" tIns="0" rIns="0" bIns="0" rtlCol="0" anchor="ctr"/>
          <a:lstStyle/>
          <a:p>
            <a:pPr marL="0" indent="0" algn="l">
              <a:buNone/>
            </a:pPr>
            <a:r>
              <a:rPr lang="en-US" sz="2800" b="1" kern="0" spc="100" dirty="0">
                <a:solidFill>
                  <a:srgbClr val="7DD3FC"/>
                </a:solidFill>
                <a:latin typeface="Arial" pitchFamily="34" charset="0"/>
                <a:ea typeface="Arial" pitchFamily="34" charset="-122"/>
                <a:cs typeface="Arial" pitchFamily="34" charset="-120"/>
              </a:rPr>
              <a:t>ACTUATORS</a:t>
            </a:r>
            <a:endParaRPr lang="en-US" sz="2800" dirty="0"/>
          </a:p>
        </p:txBody>
      </p:sp>
      <p:sp>
        <p:nvSpPr>
          <p:cNvPr id="15" name="Text 12"/>
          <p:cNvSpPr txBox="1"/>
          <p:nvPr/>
        </p:nvSpPr>
        <p:spPr>
          <a:xfrm>
            <a:off x="1508760" y="6446520"/>
            <a:ext cx="7155180" cy="192024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Charge the battery, discharge stored energy, consume energy, sell or supply surplus, or buy/obtain energy as the model requires.</a:t>
            </a:r>
            <a:endParaRPr lang="en-US" sz="2400" dirty="0"/>
          </a:p>
        </p:txBody>
      </p:sp>
      <p:sp>
        <p:nvSpPr>
          <p:cNvPr id="16" name="Shape 13"/>
          <p:cNvSpPr/>
          <p:nvPr/>
        </p:nvSpPr>
        <p:spPr>
          <a:xfrm>
            <a:off x="9304020" y="5669280"/>
            <a:ext cx="7795260" cy="2926080"/>
          </a:xfrm>
          <a:prstGeom prst="roundRect">
            <a:avLst>
              <a:gd name="adj" fmla="val 3750"/>
            </a:avLst>
          </a:prstGeom>
          <a:solidFill>
            <a:srgbClr val="0B1E33">
              <a:alpha val="70000"/>
            </a:srgbClr>
          </a:solidFill>
          <a:ln w="9525">
            <a:solidFill>
              <a:srgbClr val="3A6EA5">
                <a:alpha val="45000"/>
              </a:srgbClr>
            </a:solidFill>
            <a:prstDash val="solid"/>
          </a:ln>
        </p:spPr>
      </p:sp>
      <p:sp>
        <p:nvSpPr>
          <p:cNvPr id="17" name="Text 14"/>
          <p:cNvSpPr txBox="1"/>
          <p:nvPr/>
        </p:nvSpPr>
        <p:spPr>
          <a:xfrm>
            <a:off x="9624060" y="5897880"/>
            <a:ext cx="715518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SENSORS</a:t>
            </a:r>
            <a:endParaRPr lang="en-US" sz="2400" dirty="0"/>
          </a:p>
        </p:txBody>
      </p:sp>
      <p:sp>
        <p:nvSpPr>
          <p:cNvPr id="18" name="Text 15"/>
          <p:cNvSpPr txBox="1"/>
          <p:nvPr/>
        </p:nvSpPr>
        <p:spPr>
          <a:xfrm>
            <a:off x="9624060" y="6446520"/>
            <a:ext cx="7155180" cy="192024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Household demand, solar generation, battery state, grid signals, and messages received from neighboring agents.</a:t>
            </a:r>
            <a:endParaRPr lang="en-US" sz="2400" dirty="0"/>
          </a:p>
        </p:txBody>
      </p:sp>
      <p:sp>
        <p:nvSpPr>
          <p:cNvPr id="19" name="Text 16"/>
          <p:cNvSpPr txBox="1"/>
          <p:nvPr/>
        </p:nvSpPr>
        <p:spPr>
          <a:xfrm>
            <a:off x="1188720" y="9006840"/>
            <a:ext cx="15910560" cy="82296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7DD3FC"/>
                </a:solidFill>
                <a:latin typeface="Calibri" pitchFamily="34" charset="0"/>
                <a:ea typeface="Calibri" pitchFamily="34" charset="-122"/>
                <a:cs typeface="Calibri" pitchFamily="34" charset="-120"/>
              </a:rPr>
              <a:t>Global Impact: an individual agent's actuator decision to ‘sell surplus energy’ directly reduces the overall peak load deficit of the shared neighborhood grid.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6</a:t>
            </a:r>
            <a:endParaRPr lang="en-US" sz="2400" dirty="0"/>
          </a:p>
        </p:txBody>
      </p:sp>
      <p:sp>
        <p:nvSpPr>
          <p:cNvPr id="4" name="Text 1"/>
          <p:cNvSpPr txBox="1"/>
          <p:nvPr/>
        </p:nvSpPr>
        <p:spPr>
          <a:xfrm>
            <a:off x="1051560" y="502920"/>
            <a:ext cx="320040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5303520" y="777240"/>
            <a:ext cx="12801600" cy="1005840"/>
          </a:xfrm>
          <a:prstGeom prst="rect">
            <a:avLst/>
          </a:prstGeom>
          <a:noFill/>
          <a:ln/>
        </p:spPr>
        <p:txBody>
          <a:bodyPr wrap="square" lIns="0" tIns="0" rIns="0" bIns="0" rtlCol="0" anchor="ctr"/>
          <a:lstStyle/>
          <a:p>
            <a:pPr marL="0" indent="0" algn="l">
              <a:buNone/>
            </a:pPr>
            <a:r>
              <a:rPr lang="en-US" sz="4400" b="1" kern="0" spc="100" dirty="0">
                <a:solidFill>
                  <a:srgbClr val="FFFFFF"/>
                </a:solidFill>
                <a:latin typeface="Arial" pitchFamily="34" charset="0"/>
                <a:ea typeface="Arial" pitchFamily="34" charset="-122"/>
                <a:cs typeface="Arial" pitchFamily="34" charset="-120"/>
              </a:rPr>
              <a:t>ENVIRONMENT</a:t>
            </a:r>
            <a:endParaRPr lang="en-US" sz="4400" dirty="0"/>
          </a:p>
        </p:txBody>
      </p:sp>
      <p:sp>
        <p:nvSpPr>
          <p:cNvPr id="6" name="Text 3"/>
          <p:cNvSpPr txBox="1"/>
          <p:nvPr/>
        </p:nvSpPr>
        <p:spPr>
          <a:xfrm>
            <a:off x="5577840" y="1702781"/>
            <a:ext cx="12801600" cy="502920"/>
          </a:xfrm>
          <a:prstGeom prst="rect">
            <a:avLst/>
          </a:prstGeom>
          <a:noFill/>
          <a:ln/>
        </p:spPr>
        <p:txBody>
          <a:bodyPr wrap="square" lIns="0" tIns="0" rIns="0" bIns="0" rtlCol="0" anchor="ctr"/>
          <a:lstStyle/>
          <a:p>
            <a:pPr marL="0" indent="0" algn="l">
              <a:buNone/>
            </a:pPr>
            <a:r>
              <a:rPr lang="en-US" sz="2000" b="1" kern="0" spc="200" dirty="0">
                <a:solidFill>
                  <a:srgbClr val="5EEAD4"/>
                </a:solidFill>
                <a:latin typeface="Arial" pitchFamily="34" charset="0"/>
                <a:ea typeface="Arial" pitchFamily="34" charset="-122"/>
                <a:cs typeface="Arial" pitchFamily="34" charset="-120"/>
              </a:rPr>
              <a:t>SEVEN KEY PROPERTIES</a:t>
            </a:r>
            <a:endParaRPr lang="en-US" sz="2000" dirty="0"/>
          </a:p>
        </p:txBody>
      </p:sp>
      <p:sp>
        <p:nvSpPr>
          <p:cNvPr id="7" name="Shape 4"/>
          <p:cNvSpPr/>
          <p:nvPr/>
        </p:nvSpPr>
        <p:spPr>
          <a:xfrm>
            <a:off x="1188720" y="2651760"/>
            <a:ext cx="5120640" cy="2880360"/>
          </a:xfrm>
          <a:prstGeom prst="roundRect">
            <a:avLst>
              <a:gd name="adj" fmla="val 3810"/>
            </a:avLst>
          </a:prstGeom>
          <a:solidFill>
            <a:srgbClr val="0B1E33">
              <a:alpha val="70000"/>
            </a:srgbClr>
          </a:solidFill>
          <a:ln w="9525">
            <a:solidFill>
              <a:srgbClr val="3A6EA5">
                <a:alpha val="45000"/>
              </a:srgbClr>
            </a:solidFill>
            <a:prstDash val="solid"/>
          </a:ln>
        </p:spPr>
      </p:sp>
      <p:sp>
        <p:nvSpPr>
          <p:cNvPr id="8" name="Text 5"/>
          <p:cNvSpPr txBox="1"/>
          <p:nvPr/>
        </p:nvSpPr>
        <p:spPr>
          <a:xfrm>
            <a:off x="1463040" y="2834640"/>
            <a:ext cx="822960" cy="685800"/>
          </a:xfrm>
          <a:prstGeom prst="rect">
            <a:avLst/>
          </a:prstGeom>
          <a:noFill/>
          <a:ln/>
        </p:spPr>
        <p:txBody>
          <a:bodyPr wrap="square" lIns="0" tIns="0" rIns="0" bIns="0" rtlCol="0" anchor="ctr"/>
          <a:lstStyle/>
          <a:p>
            <a:pPr marL="0" indent="0">
              <a:buNone/>
            </a:pPr>
            <a:r>
              <a:rPr lang="en-US" sz="2600" b="1" dirty="0">
                <a:solidFill>
                  <a:srgbClr val="5EEAD4"/>
                </a:solidFill>
                <a:latin typeface="Arial" pitchFamily="34" charset="0"/>
                <a:ea typeface="Arial" pitchFamily="34" charset="-122"/>
                <a:cs typeface="Arial" pitchFamily="34" charset="-120"/>
              </a:rPr>
              <a:t>A</a:t>
            </a:r>
            <a:endParaRPr lang="en-US" sz="2600" dirty="0"/>
          </a:p>
        </p:txBody>
      </p:sp>
      <p:sp>
        <p:nvSpPr>
          <p:cNvPr id="9" name="Text 6"/>
          <p:cNvSpPr txBox="1"/>
          <p:nvPr/>
        </p:nvSpPr>
        <p:spPr>
          <a:xfrm>
            <a:off x="1463040" y="3520440"/>
            <a:ext cx="4572000" cy="457200"/>
          </a:xfrm>
          <a:prstGeom prst="rect">
            <a:avLst/>
          </a:prstGeom>
          <a:noFill/>
          <a:ln/>
        </p:spPr>
        <p:txBody>
          <a:bodyPr wrap="square" lIns="0" tIns="0" rIns="0" bIns="0" rtlCol="0" anchor="ctr"/>
          <a:lstStyle/>
          <a:p>
            <a:pPr marL="0" indent="0" algn="l">
              <a:buNone/>
            </a:pPr>
            <a:r>
              <a:rPr lang="en-US" sz="2800" b="1" kern="0" spc="100" dirty="0">
                <a:solidFill>
                  <a:srgbClr val="7DD3FC"/>
                </a:solidFill>
                <a:latin typeface="Arial" pitchFamily="34" charset="0"/>
                <a:ea typeface="Arial" pitchFamily="34" charset="-122"/>
                <a:cs typeface="Arial" pitchFamily="34" charset="-120"/>
              </a:rPr>
              <a:t>MULTI-AGENT</a:t>
            </a:r>
            <a:endParaRPr lang="en-US" sz="2800" dirty="0"/>
          </a:p>
        </p:txBody>
      </p:sp>
      <p:sp>
        <p:nvSpPr>
          <p:cNvPr id="10" name="Text 7"/>
          <p:cNvSpPr txBox="1"/>
          <p:nvPr/>
        </p:nvSpPr>
        <p:spPr>
          <a:xfrm>
            <a:off x="1463040" y="4023360"/>
            <a:ext cx="4572000" cy="132588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Multiple autonomous household agents act within the same shared neighborhood environment.</a:t>
            </a:r>
            <a:endParaRPr lang="en-US" sz="2400" dirty="0"/>
          </a:p>
        </p:txBody>
      </p:sp>
      <p:sp>
        <p:nvSpPr>
          <p:cNvPr id="11" name="Shape 8"/>
          <p:cNvSpPr/>
          <p:nvPr/>
        </p:nvSpPr>
        <p:spPr>
          <a:xfrm>
            <a:off x="6583680" y="2651760"/>
            <a:ext cx="5120640" cy="2880360"/>
          </a:xfrm>
          <a:prstGeom prst="roundRect">
            <a:avLst>
              <a:gd name="adj" fmla="val 3810"/>
            </a:avLst>
          </a:prstGeom>
          <a:solidFill>
            <a:srgbClr val="0B1E33">
              <a:alpha val="70000"/>
            </a:srgbClr>
          </a:solidFill>
          <a:ln w="9525">
            <a:solidFill>
              <a:srgbClr val="3A6EA5">
                <a:alpha val="45000"/>
              </a:srgbClr>
            </a:solidFill>
            <a:prstDash val="solid"/>
          </a:ln>
        </p:spPr>
      </p:sp>
      <p:sp>
        <p:nvSpPr>
          <p:cNvPr id="12" name="Text 9"/>
          <p:cNvSpPr txBox="1"/>
          <p:nvPr/>
        </p:nvSpPr>
        <p:spPr>
          <a:xfrm>
            <a:off x="6858000" y="2834640"/>
            <a:ext cx="822960" cy="685800"/>
          </a:xfrm>
          <a:prstGeom prst="rect">
            <a:avLst/>
          </a:prstGeom>
          <a:noFill/>
          <a:ln/>
        </p:spPr>
        <p:txBody>
          <a:bodyPr wrap="square" lIns="0" tIns="0" rIns="0" bIns="0" rtlCol="0" anchor="ctr"/>
          <a:lstStyle/>
          <a:p>
            <a:pPr marL="0" indent="0">
              <a:buNone/>
            </a:pPr>
            <a:r>
              <a:rPr lang="en-US" sz="2600" b="1" dirty="0">
                <a:solidFill>
                  <a:srgbClr val="5EEAD4"/>
                </a:solidFill>
                <a:latin typeface="Arial" pitchFamily="34" charset="0"/>
                <a:ea typeface="Arial" pitchFamily="34" charset="-122"/>
                <a:cs typeface="Arial" pitchFamily="34" charset="-120"/>
              </a:rPr>
              <a:t>B</a:t>
            </a:r>
            <a:endParaRPr lang="en-US" sz="2600" dirty="0"/>
          </a:p>
        </p:txBody>
      </p:sp>
      <p:sp>
        <p:nvSpPr>
          <p:cNvPr id="13" name="Text 10"/>
          <p:cNvSpPr txBox="1"/>
          <p:nvPr/>
        </p:nvSpPr>
        <p:spPr>
          <a:xfrm>
            <a:off x="6858000" y="3520440"/>
            <a:ext cx="457200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PARTIALLY OBSERVABLE</a:t>
            </a:r>
            <a:endParaRPr lang="en-US" sz="2400" dirty="0"/>
          </a:p>
        </p:txBody>
      </p:sp>
      <p:sp>
        <p:nvSpPr>
          <p:cNvPr id="14" name="Text 11"/>
          <p:cNvSpPr txBox="1"/>
          <p:nvPr/>
        </p:nvSpPr>
        <p:spPr>
          <a:xfrm>
            <a:off x="6858000" y="4023360"/>
            <a:ext cx="4572000" cy="132588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No single household has complete, instantaneous knowledge of the whole neighborhood state.</a:t>
            </a:r>
            <a:endParaRPr lang="en-US" sz="2400" dirty="0"/>
          </a:p>
        </p:txBody>
      </p:sp>
      <p:sp>
        <p:nvSpPr>
          <p:cNvPr id="15" name="Shape 12"/>
          <p:cNvSpPr/>
          <p:nvPr/>
        </p:nvSpPr>
        <p:spPr>
          <a:xfrm>
            <a:off x="11978640" y="2651760"/>
            <a:ext cx="5120640" cy="2880360"/>
          </a:xfrm>
          <a:prstGeom prst="roundRect">
            <a:avLst>
              <a:gd name="adj" fmla="val 3810"/>
            </a:avLst>
          </a:prstGeom>
          <a:solidFill>
            <a:srgbClr val="0B1E33">
              <a:alpha val="70000"/>
            </a:srgbClr>
          </a:solidFill>
          <a:ln w="9525">
            <a:solidFill>
              <a:srgbClr val="3A6EA5">
                <a:alpha val="45000"/>
              </a:srgbClr>
            </a:solidFill>
            <a:prstDash val="solid"/>
          </a:ln>
        </p:spPr>
      </p:sp>
      <p:sp>
        <p:nvSpPr>
          <p:cNvPr id="16" name="Text 13"/>
          <p:cNvSpPr txBox="1"/>
          <p:nvPr/>
        </p:nvSpPr>
        <p:spPr>
          <a:xfrm>
            <a:off x="12252960" y="2834640"/>
            <a:ext cx="822960" cy="685800"/>
          </a:xfrm>
          <a:prstGeom prst="rect">
            <a:avLst/>
          </a:prstGeom>
          <a:noFill/>
          <a:ln/>
        </p:spPr>
        <p:txBody>
          <a:bodyPr wrap="square" lIns="0" tIns="0" rIns="0" bIns="0" rtlCol="0" anchor="ctr"/>
          <a:lstStyle/>
          <a:p>
            <a:pPr marL="0" indent="0">
              <a:buNone/>
            </a:pPr>
            <a:r>
              <a:rPr lang="en-US" sz="2600" b="1" dirty="0">
                <a:solidFill>
                  <a:srgbClr val="5EEAD4"/>
                </a:solidFill>
                <a:latin typeface="Arial" pitchFamily="34" charset="0"/>
                <a:ea typeface="Arial" pitchFamily="34" charset="-122"/>
                <a:cs typeface="Arial" pitchFamily="34" charset="-120"/>
              </a:rPr>
              <a:t>C</a:t>
            </a:r>
            <a:endParaRPr lang="en-US" sz="2600" dirty="0"/>
          </a:p>
        </p:txBody>
      </p:sp>
      <p:sp>
        <p:nvSpPr>
          <p:cNvPr id="17" name="Text 14"/>
          <p:cNvSpPr txBox="1"/>
          <p:nvPr/>
        </p:nvSpPr>
        <p:spPr>
          <a:xfrm>
            <a:off x="12252960" y="3520440"/>
            <a:ext cx="457200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DYNAMIC</a:t>
            </a:r>
            <a:endParaRPr lang="en-US" sz="2400" dirty="0"/>
          </a:p>
        </p:txBody>
      </p:sp>
      <p:sp>
        <p:nvSpPr>
          <p:cNvPr id="18" name="Text 15"/>
          <p:cNvSpPr txBox="1"/>
          <p:nvPr/>
        </p:nvSpPr>
        <p:spPr>
          <a:xfrm>
            <a:off x="12252960" y="4023360"/>
            <a:ext cx="4846320" cy="132588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The state keeps changing as demand, generation, battery levels, and other agents' actions shift.</a:t>
            </a:r>
            <a:endParaRPr lang="en-US" sz="2400" dirty="0"/>
          </a:p>
        </p:txBody>
      </p:sp>
      <p:sp>
        <p:nvSpPr>
          <p:cNvPr id="19" name="Shape 16"/>
          <p:cNvSpPr/>
          <p:nvPr/>
        </p:nvSpPr>
        <p:spPr>
          <a:xfrm>
            <a:off x="1188720" y="5806440"/>
            <a:ext cx="5120640" cy="2880360"/>
          </a:xfrm>
          <a:prstGeom prst="roundRect">
            <a:avLst>
              <a:gd name="adj" fmla="val 3810"/>
            </a:avLst>
          </a:prstGeom>
          <a:solidFill>
            <a:srgbClr val="0B1E33">
              <a:alpha val="70000"/>
            </a:srgbClr>
          </a:solidFill>
          <a:ln w="9525">
            <a:solidFill>
              <a:srgbClr val="3A6EA5">
                <a:alpha val="45000"/>
              </a:srgbClr>
            </a:solidFill>
            <a:prstDash val="solid"/>
          </a:ln>
        </p:spPr>
      </p:sp>
      <p:sp>
        <p:nvSpPr>
          <p:cNvPr id="20" name="Text 17"/>
          <p:cNvSpPr txBox="1"/>
          <p:nvPr/>
        </p:nvSpPr>
        <p:spPr>
          <a:xfrm>
            <a:off x="1463040" y="5989320"/>
            <a:ext cx="822960" cy="685800"/>
          </a:xfrm>
          <a:prstGeom prst="rect">
            <a:avLst/>
          </a:prstGeom>
          <a:noFill/>
          <a:ln/>
        </p:spPr>
        <p:txBody>
          <a:bodyPr wrap="square" lIns="0" tIns="0" rIns="0" bIns="0" rtlCol="0" anchor="ctr"/>
          <a:lstStyle/>
          <a:p>
            <a:pPr marL="0" indent="0">
              <a:buNone/>
            </a:pPr>
            <a:r>
              <a:rPr lang="en-US" sz="2600" b="1" dirty="0">
                <a:solidFill>
                  <a:srgbClr val="5EEAD4"/>
                </a:solidFill>
                <a:latin typeface="Arial" pitchFamily="34" charset="0"/>
                <a:ea typeface="Arial" pitchFamily="34" charset="-122"/>
                <a:cs typeface="Arial" pitchFamily="34" charset="-120"/>
              </a:rPr>
              <a:t>D</a:t>
            </a:r>
            <a:endParaRPr lang="en-US" sz="2600" dirty="0"/>
          </a:p>
        </p:txBody>
      </p:sp>
      <p:sp>
        <p:nvSpPr>
          <p:cNvPr id="21" name="Text 18"/>
          <p:cNvSpPr txBox="1"/>
          <p:nvPr/>
        </p:nvSpPr>
        <p:spPr>
          <a:xfrm>
            <a:off x="1463040" y="6675120"/>
            <a:ext cx="457200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STOCHASTIC</a:t>
            </a:r>
            <a:endParaRPr lang="en-US" sz="2400" dirty="0"/>
          </a:p>
        </p:txBody>
      </p:sp>
      <p:sp>
        <p:nvSpPr>
          <p:cNvPr id="22" name="Text 19"/>
          <p:cNvSpPr txBox="1"/>
          <p:nvPr/>
        </p:nvSpPr>
        <p:spPr>
          <a:xfrm>
            <a:off x="1463040" y="7178040"/>
            <a:ext cx="4846320" cy="132588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Solar generation and weather-driven demand are uncertain, so outcomes are never fully predictable.</a:t>
            </a:r>
            <a:endParaRPr lang="en-US" sz="2400" dirty="0"/>
          </a:p>
        </p:txBody>
      </p:sp>
      <p:sp>
        <p:nvSpPr>
          <p:cNvPr id="23" name="Shape 20"/>
          <p:cNvSpPr/>
          <p:nvPr/>
        </p:nvSpPr>
        <p:spPr>
          <a:xfrm>
            <a:off x="6583680" y="5806440"/>
            <a:ext cx="5120640" cy="2880360"/>
          </a:xfrm>
          <a:prstGeom prst="roundRect">
            <a:avLst>
              <a:gd name="adj" fmla="val 3810"/>
            </a:avLst>
          </a:prstGeom>
          <a:solidFill>
            <a:srgbClr val="0B1E33">
              <a:alpha val="70000"/>
            </a:srgbClr>
          </a:solidFill>
          <a:ln w="9525">
            <a:solidFill>
              <a:srgbClr val="3A6EA5">
                <a:alpha val="45000"/>
              </a:srgbClr>
            </a:solidFill>
            <a:prstDash val="solid"/>
          </a:ln>
        </p:spPr>
      </p:sp>
      <p:sp>
        <p:nvSpPr>
          <p:cNvPr id="24" name="Text 21"/>
          <p:cNvSpPr txBox="1"/>
          <p:nvPr/>
        </p:nvSpPr>
        <p:spPr>
          <a:xfrm>
            <a:off x="6858000" y="5989320"/>
            <a:ext cx="822960" cy="685800"/>
          </a:xfrm>
          <a:prstGeom prst="rect">
            <a:avLst/>
          </a:prstGeom>
          <a:noFill/>
          <a:ln/>
        </p:spPr>
        <p:txBody>
          <a:bodyPr wrap="square" lIns="0" tIns="0" rIns="0" bIns="0" rtlCol="0" anchor="ctr"/>
          <a:lstStyle/>
          <a:p>
            <a:pPr marL="0" indent="0">
              <a:buNone/>
            </a:pPr>
            <a:r>
              <a:rPr lang="en-US" sz="2600" b="1" dirty="0">
                <a:solidFill>
                  <a:srgbClr val="5EEAD4"/>
                </a:solidFill>
                <a:latin typeface="Arial" pitchFamily="34" charset="0"/>
                <a:ea typeface="Arial" pitchFamily="34" charset="-122"/>
                <a:cs typeface="Arial" pitchFamily="34" charset="-120"/>
              </a:rPr>
              <a:t>E</a:t>
            </a:r>
            <a:endParaRPr lang="en-US" sz="2600" dirty="0"/>
          </a:p>
        </p:txBody>
      </p:sp>
      <p:sp>
        <p:nvSpPr>
          <p:cNvPr id="25" name="Text 22"/>
          <p:cNvSpPr txBox="1"/>
          <p:nvPr/>
        </p:nvSpPr>
        <p:spPr>
          <a:xfrm>
            <a:off x="6858000" y="6675120"/>
            <a:ext cx="457200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COOPERATIVE</a:t>
            </a:r>
            <a:endParaRPr lang="en-US" sz="2400" dirty="0"/>
          </a:p>
        </p:txBody>
      </p:sp>
      <p:sp>
        <p:nvSpPr>
          <p:cNvPr id="26" name="Text 23"/>
          <p:cNvSpPr txBox="1"/>
          <p:nvPr/>
        </p:nvSpPr>
        <p:spPr>
          <a:xfrm>
            <a:off x="6858000" y="7178040"/>
            <a:ext cx="4572000" cy="132588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Agents share surplus/deficit signals, aiming to balance demand together rather than compete.</a:t>
            </a:r>
            <a:endParaRPr lang="en-US" sz="2400" dirty="0"/>
          </a:p>
        </p:txBody>
      </p:sp>
      <p:sp>
        <p:nvSpPr>
          <p:cNvPr id="27" name="Shape 24"/>
          <p:cNvSpPr/>
          <p:nvPr/>
        </p:nvSpPr>
        <p:spPr>
          <a:xfrm>
            <a:off x="11978640" y="5806440"/>
            <a:ext cx="5120640" cy="2880360"/>
          </a:xfrm>
          <a:prstGeom prst="roundRect">
            <a:avLst>
              <a:gd name="adj" fmla="val 3810"/>
            </a:avLst>
          </a:prstGeom>
          <a:solidFill>
            <a:srgbClr val="0B1E33">
              <a:alpha val="70000"/>
            </a:srgbClr>
          </a:solidFill>
          <a:ln w="9525">
            <a:solidFill>
              <a:srgbClr val="3A6EA5">
                <a:alpha val="45000"/>
              </a:srgbClr>
            </a:solidFill>
            <a:prstDash val="solid"/>
          </a:ln>
        </p:spPr>
      </p:sp>
      <p:sp>
        <p:nvSpPr>
          <p:cNvPr id="28" name="Text 25"/>
          <p:cNvSpPr txBox="1"/>
          <p:nvPr/>
        </p:nvSpPr>
        <p:spPr>
          <a:xfrm>
            <a:off x="12252960" y="5989320"/>
            <a:ext cx="822960" cy="685800"/>
          </a:xfrm>
          <a:prstGeom prst="rect">
            <a:avLst/>
          </a:prstGeom>
          <a:noFill/>
          <a:ln/>
        </p:spPr>
        <p:txBody>
          <a:bodyPr wrap="square" lIns="0" tIns="0" rIns="0" bIns="0" rtlCol="0" anchor="ctr"/>
          <a:lstStyle/>
          <a:p>
            <a:pPr marL="0" indent="0">
              <a:buNone/>
            </a:pPr>
            <a:r>
              <a:rPr lang="en-US" sz="2600" b="1" dirty="0">
                <a:solidFill>
                  <a:srgbClr val="5EEAD4"/>
                </a:solidFill>
                <a:latin typeface="Arial" pitchFamily="34" charset="0"/>
                <a:ea typeface="Arial" pitchFamily="34" charset="-122"/>
                <a:cs typeface="Arial" pitchFamily="34" charset="-120"/>
              </a:rPr>
              <a:t>F</a:t>
            </a:r>
            <a:endParaRPr lang="en-US" sz="2600" dirty="0"/>
          </a:p>
        </p:txBody>
      </p:sp>
      <p:sp>
        <p:nvSpPr>
          <p:cNvPr id="29" name="Text 26"/>
          <p:cNvSpPr txBox="1"/>
          <p:nvPr/>
        </p:nvSpPr>
        <p:spPr>
          <a:xfrm>
            <a:off x="12252960" y="6675120"/>
            <a:ext cx="457200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SEQUENTIAL</a:t>
            </a:r>
            <a:endParaRPr lang="en-US" sz="2400" dirty="0"/>
          </a:p>
        </p:txBody>
      </p:sp>
      <p:sp>
        <p:nvSpPr>
          <p:cNvPr id="30" name="Text 27"/>
          <p:cNvSpPr txBox="1"/>
          <p:nvPr/>
        </p:nvSpPr>
        <p:spPr>
          <a:xfrm>
            <a:off x="12252960" y="7178040"/>
            <a:ext cx="4846320" cy="132588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Today's storage and trading decisions carry over, shaping tomorrow's battery and energy states.</a:t>
            </a:r>
            <a:endParaRPr lang="en-US" sz="2400" dirty="0"/>
          </a:p>
        </p:txBody>
      </p:sp>
      <p:sp>
        <p:nvSpPr>
          <p:cNvPr id="32" name="Shape 24">
            <a:extLst>
              <a:ext uri="{FF2B5EF4-FFF2-40B4-BE49-F238E27FC236}">
                <a16:creationId xmlns:a16="http://schemas.microsoft.com/office/drawing/2014/main" id="{939822CB-F179-AF52-F0D4-20D78112CDEF}"/>
              </a:ext>
            </a:extLst>
          </p:cNvPr>
          <p:cNvSpPr/>
          <p:nvPr/>
        </p:nvSpPr>
        <p:spPr>
          <a:xfrm>
            <a:off x="11978640" y="140571"/>
            <a:ext cx="5120640" cy="2374029"/>
          </a:xfrm>
          <a:prstGeom prst="roundRect">
            <a:avLst>
              <a:gd name="adj" fmla="val 3810"/>
            </a:avLst>
          </a:prstGeom>
          <a:solidFill>
            <a:srgbClr val="0B1E33">
              <a:alpha val="70000"/>
            </a:srgbClr>
          </a:solidFill>
          <a:ln w="9525">
            <a:solidFill>
              <a:srgbClr val="3A6EA5">
                <a:alpha val="45000"/>
              </a:srgbClr>
            </a:solidFill>
            <a:prstDash val="solid"/>
          </a:ln>
        </p:spPr>
      </p:sp>
      <p:sp>
        <p:nvSpPr>
          <p:cNvPr id="33" name="TextBox 32">
            <a:extLst>
              <a:ext uri="{FF2B5EF4-FFF2-40B4-BE49-F238E27FC236}">
                <a16:creationId xmlns:a16="http://schemas.microsoft.com/office/drawing/2014/main" id="{0501F3B7-82E0-ECCE-A7B2-7ACA72187500}"/>
              </a:ext>
            </a:extLst>
          </p:cNvPr>
          <p:cNvSpPr txBox="1"/>
          <p:nvPr/>
        </p:nvSpPr>
        <p:spPr>
          <a:xfrm>
            <a:off x="12070080" y="374213"/>
            <a:ext cx="4937760" cy="2443746"/>
          </a:xfrm>
          <a:prstGeom prst="rect">
            <a:avLst/>
          </a:prstGeom>
          <a:noFill/>
        </p:spPr>
        <p:txBody>
          <a:bodyPr wrap="square" rtlCol="0">
            <a:spAutoFit/>
          </a:bodyPr>
          <a:lstStyle/>
          <a:p>
            <a:r>
              <a:rPr lang="en-US" sz="2800" b="1" dirty="0">
                <a:solidFill>
                  <a:srgbClr val="5EEAD4"/>
                </a:solidFill>
                <a:latin typeface="Arial" pitchFamily="34" charset="0"/>
                <a:cs typeface="Arial" pitchFamily="34" charset="-120"/>
              </a:rPr>
              <a:t>G</a:t>
            </a:r>
            <a:endParaRPr lang="en-IN" sz="2800" b="1" dirty="0"/>
          </a:p>
          <a:p>
            <a:r>
              <a:rPr lang="en-US" sz="2400" b="1" kern="0" spc="100" dirty="0">
                <a:solidFill>
                  <a:srgbClr val="7DD3FC"/>
                </a:solidFill>
                <a:latin typeface="Arial" pitchFamily="34" charset="0"/>
                <a:ea typeface="Arial" pitchFamily="34" charset="-122"/>
                <a:cs typeface="Arial" pitchFamily="34" charset="-120"/>
              </a:rPr>
              <a:t>DISCRETE-TIME DECISIONS</a:t>
            </a:r>
            <a:endParaRPr lang="en-US" sz="2400" dirty="0"/>
          </a:p>
          <a:p>
            <a:pPr>
              <a:lnSpc>
                <a:spcPct val="115000"/>
              </a:lnSpc>
            </a:pPr>
            <a:r>
              <a:rPr lang="en-US" sz="2400" dirty="0">
                <a:solidFill>
                  <a:srgbClr val="D7E3EE"/>
                </a:solidFill>
                <a:latin typeface="Calibri" pitchFamily="34" charset="0"/>
                <a:ea typeface="Calibri" pitchFamily="34" charset="-122"/>
                <a:cs typeface="Calibri" pitchFamily="34" charset="-120"/>
              </a:rPr>
              <a:t>Agents </a:t>
            </a:r>
            <a:r>
              <a:rPr lang="en-US" sz="2400" dirty="0" err="1">
                <a:solidFill>
                  <a:srgbClr val="D7E3EE"/>
                </a:solidFill>
                <a:latin typeface="Calibri" pitchFamily="34" charset="0"/>
                <a:ea typeface="Calibri" pitchFamily="34" charset="-122"/>
                <a:cs typeface="Calibri" pitchFamily="34" charset="-120"/>
              </a:rPr>
              <a:t>sense,decide,communicate</a:t>
            </a:r>
            <a:r>
              <a:rPr lang="en-US" sz="2400" dirty="0">
                <a:solidFill>
                  <a:srgbClr val="D7E3EE"/>
                </a:solidFill>
                <a:latin typeface="Calibri" pitchFamily="34" charset="0"/>
                <a:ea typeface="Calibri" pitchFamily="34" charset="-122"/>
                <a:cs typeface="Calibri" pitchFamily="34" charset="-120"/>
              </a:rPr>
              <a:t> and act at defined time steps during simulation.</a:t>
            </a:r>
            <a:endParaRPr lang="en-US" sz="2400"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7</a:t>
            </a:r>
            <a:endParaRPr lang="en-US" sz="2400" dirty="0"/>
          </a:p>
        </p:txBody>
      </p:sp>
      <p:sp>
        <p:nvSpPr>
          <p:cNvPr id="4" name="Text 1"/>
          <p:cNvSpPr txBox="1"/>
          <p:nvPr/>
        </p:nvSpPr>
        <p:spPr>
          <a:xfrm>
            <a:off x="1051560" y="502920"/>
            <a:ext cx="320040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6537960" y="1035231"/>
            <a:ext cx="12801600" cy="1005840"/>
          </a:xfrm>
          <a:prstGeom prst="rect">
            <a:avLst/>
          </a:prstGeom>
          <a:noFill/>
          <a:ln/>
        </p:spPr>
        <p:txBody>
          <a:bodyPr wrap="square" lIns="0" tIns="0" rIns="0" bIns="0" rtlCol="0" anchor="ctr"/>
          <a:lstStyle/>
          <a:p>
            <a:pPr marL="0" indent="0" algn="l">
              <a:buNone/>
            </a:pPr>
            <a:r>
              <a:rPr lang="en-US" sz="4400" b="1" kern="0" spc="100" dirty="0">
                <a:solidFill>
                  <a:srgbClr val="FFFFFF"/>
                </a:solidFill>
                <a:latin typeface="Arial" pitchFamily="34" charset="0"/>
                <a:ea typeface="Arial" pitchFamily="34" charset="-122"/>
                <a:cs typeface="Arial" pitchFamily="34" charset="-120"/>
              </a:rPr>
              <a:t>COMMUNICATION</a:t>
            </a:r>
            <a:endParaRPr lang="en-US" sz="4400" dirty="0"/>
          </a:p>
        </p:txBody>
      </p:sp>
      <p:sp>
        <p:nvSpPr>
          <p:cNvPr id="6" name="Text 3"/>
          <p:cNvSpPr txBox="1"/>
          <p:nvPr/>
        </p:nvSpPr>
        <p:spPr>
          <a:xfrm>
            <a:off x="6789420" y="1838597"/>
            <a:ext cx="12801600" cy="502920"/>
          </a:xfrm>
          <a:prstGeom prst="rect">
            <a:avLst/>
          </a:prstGeom>
          <a:noFill/>
          <a:ln/>
        </p:spPr>
        <p:txBody>
          <a:bodyPr wrap="square" lIns="0" tIns="0" rIns="0" bIns="0" rtlCol="0" anchor="ctr"/>
          <a:lstStyle/>
          <a:p>
            <a:pPr marL="0" indent="0" algn="l">
              <a:buNone/>
            </a:pPr>
            <a:r>
              <a:rPr lang="en-US" sz="2000" b="1" kern="0" spc="200" dirty="0">
                <a:solidFill>
                  <a:srgbClr val="5EEAD4"/>
                </a:solidFill>
                <a:latin typeface="Arial" pitchFamily="34" charset="0"/>
                <a:ea typeface="Arial" pitchFamily="34" charset="-122"/>
                <a:cs typeface="Arial" pitchFamily="34" charset="-120"/>
              </a:rPr>
              <a:t>SURPLUS-DEFICIT NEGOTIATION</a:t>
            </a:r>
            <a:endParaRPr lang="en-US" sz="2000" dirty="0"/>
          </a:p>
        </p:txBody>
      </p:sp>
      <p:sp>
        <p:nvSpPr>
          <p:cNvPr id="7" name="Shape 4"/>
          <p:cNvSpPr/>
          <p:nvPr/>
        </p:nvSpPr>
        <p:spPr>
          <a:xfrm>
            <a:off x="1188720" y="2697480"/>
            <a:ext cx="7818120" cy="2103120"/>
          </a:xfrm>
          <a:prstGeom prst="roundRect">
            <a:avLst>
              <a:gd name="adj" fmla="val 5217"/>
            </a:avLst>
          </a:prstGeom>
          <a:solidFill>
            <a:srgbClr val="0B1E33">
              <a:alpha val="70000"/>
            </a:srgbClr>
          </a:solidFill>
          <a:ln w="9525">
            <a:solidFill>
              <a:srgbClr val="3A6EA5">
                <a:alpha val="45000"/>
              </a:srgbClr>
            </a:solidFill>
            <a:prstDash val="solid"/>
          </a:ln>
        </p:spPr>
      </p:sp>
      <p:sp>
        <p:nvSpPr>
          <p:cNvPr id="8" name="Text 5"/>
          <p:cNvSpPr txBox="1"/>
          <p:nvPr/>
        </p:nvSpPr>
        <p:spPr>
          <a:xfrm>
            <a:off x="1463040" y="2697480"/>
            <a:ext cx="1188720" cy="2103120"/>
          </a:xfrm>
          <a:prstGeom prst="rect">
            <a:avLst/>
          </a:prstGeom>
          <a:noFill/>
          <a:ln/>
        </p:spPr>
        <p:txBody>
          <a:bodyPr wrap="square" lIns="0" tIns="0" rIns="0" bIns="0" rtlCol="0" anchor="ctr"/>
          <a:lstStyle/>
          <a:p>
            <a:pPr marL="0" indent="0">
              <a:buNone/>
            </a:pPr>
            <a:r>
              <a:rPr lang="en-US" sz="3000" b="1" dirty="0">
                <a:solidFill>
                  <a:srgbClr val="5EEAD4"/>
                </a:solidFill>
                <a:latin typeface="Arial" pitchFamily="34" charset="0"/>
                <a:ea typeface="Arial" pitchFamily="34" charset="-122"/>
                <a:cs typeface="Arial" pitchFamily="34" charset="-120"/>
              </a:rPr>
              <a:t>01</a:t>
            </a:r>
            <a:endParaRPr lang="en-US" sz="3000" dirty="0"/>
          </a:p>
        </p:txBody>
      </p:sp>
      <p:sp>
        <p:nvSpPr>
          <p:cNvPr id="9" name="Text 6"/>
          <p:cNvSpPr txBox="1"/>
          <p:nvPr/>
        </p:nvSpPr>
        <p:spPr>
          <a:xfrm>
            <a:off x="2651760" y="2697480"/>
            <a:ext cx="6080760" cy="2103120"/>
          </a:xfrm>
          <a:prstGeom prst="rect">
            <a:avLst/>
          </a:prstGeom>
          <a:noFill/>
          <a:ln/>
        </p:spPr>
        <p:txBody>
          <a:bodyPr wrap="square" lIns="101600" tIns="101600" rIns="101600" bIns="101600" rtlCol="0" anchor="ctr"/>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Household A reports a surplus, Household B reports a deficit, and the two negotiate a trade under the auction protocol.</a:t>
            </a:r>
            <a:endParaRPr lang="en-US" sz="2400" dirty="0"/>
          </a:p>
        </p:txBody>
      </p:sp>
      <p:sp>
        <p:nvSpPr>
          <p:cNvPr id="10" name="Shape 7"/>
          <p:cNvSpPr/>
          <p:nvPr/>
        </p:nvSpPr>
        <p:spPr>
          <a:xfrm>
            <a:off x="9281160" y="2697480"/>
            <a:ext cx="7818120" cy="2103120"/>
          </a:xfrm>
          <a:prstGeom prst="roundRect">
            <a:avLst>
              <a:gd name="adj" fmla="val 5217"/>
            </a:avLst>
          </a:prstGeom>
          <a:solidFill>
            <a:srgbClr val="0B1E33">
              <a:alpha val="70000"/>
            </a:srgbClr>
          </a:solidFill>
          <a:ln w="9525">
            <a:solidFill>
              <a:srgbClr val="3A6EA5">
                <a:alpha val="45000"/>
              </a:srgbClr>
            </a:solidFill>
            <a:prstDash val="solid"/>
          </a:ln>
        </p:spPr>
      </p:sp>
      <p:sp>
        <p:nvSpPr>
          <p:cNvPr id="11" name="Text 8"/>
          <p:cNvSpPr txBox="1"/>
          <p:nvPr/>
        </p:nvSpPr>
        <p:spPr>
          <a:xfrm>
            <a:off x="9555480" y="2697480"/>
            <a:ext cx="1188720" cy="2103120"/>
          </a:xfrm>
          <a:prstGeom prst="rect">
            <a:avLst/>
          </a:prstGeom>
          <a:noFill/>
          <a:ln/>
        </p:spPr>
        <p:txBody>
          <a:bodyPr wrap="square" lIns="0" tIns="0" rIns="0" bIns="0" rtlCol="0" anchor="ctr"/>
          <a:lstStyle/>
          <a:p>
            <a:pPr marL="0" indent="0">
              <a:buNone/>
            </a:pPr>
            <a:r>
              <a:rPr lang="en-US" sz="3000" b="1" dirty="0">
                <a:solidFill>
                  <a:srgbClr val="5EEAD4"/>
                </a:solidFill>
                <a:latin typeface="Arial" pitchFamily="34" charset="0"/>
                <a:ea typeface="Arial" pitchFamily="34" charset="-122"/>
                <a:cs typeface="Arial" pitchFamily="34" charset="-120"/>
              </a:rPr>
              <a:t>02</a:t>
            </a:r>
            <a:endParaRPr lang="en-US" sz="3000" dirty="0"/>
          </a:p>
        </p:txBody>
      </p:sp>
      <p:sp>
        <p:nvSpPr>
          <p:cNvPr id="12" name="Text 9"/>
          <p:cNvSpPr txBox="1"/>
          <p:nvPr/>
        </p:nvSpPr>
        <p:spPr>
          <a:xfrm>
            <a:off x="10744200" y="2873829"/>
            <a:ext cx="6080760" cy="2103120"/>
          </a:xfrm>
          <a:prstGeom prst="rect">
            <a:avLst/>
          </a:prstGeom>
          <a:noFill/>
          <a:ln/>
        </p:spPr>
        <p:txBody>
          <a:bodyPr wrap="square" lIns="101600" tIns="101600" rIns="101600" bIns="101600" rtlCol="0" anchor="ctr"/>
          <a:lstStyle/>
          <a:p>
            <a:pPr>
              <a:lnSpc>
                <a:spcPct val="100000"/>
              </a:lnSpc>
            </a:pPr>
            <a:r>
              <a:rPr lang="en-IN" sz="2400" dirty="0">
                <a:solidFill>
                  <a:schemeClr val="bg1"/>
                </a:solidFill>
              </a:rPr>
              <a:t>Agents exchange surplus/deficit information and battery state so that energy-sharing decisions reflect current local conditions.</a:t>
            </a:r>
          </a:p>
          <a:p>
            <a:pPr marL="0" indent="0" algn="l">
              <a:lnSpc>
                <a:spcPct val="115000"/>
              </a:lnSpc>
              <a:buNone/>
            </a:pPr>
            <a:endParaRPr lang="en-US" sz="2400" dirty="0"/>
          </a:p>
        </p:txBody>
      </p:sp>
      <p:sp>
        <p:nvSpPr>
          <p:cNvPr id="13" name="Shape 10"/>
          <p:cNvSpPr/>
          <p:nvPr/>
        </p:nvSpPr>
        <p:spPr>
          <a:xfrm>
            <a:off x="1188720" y="5074920"/>
            <a:ext cx="7818120" cy="2103120"/>
          </a:xfrm>
          <a:prstGeom prst="roundRect">
            <a:avLst>
              <a:gd name="adj" fmla="val 5217"/>
            </a:avLst>
          </a:prstGeom>
          <a:solidFill>
            <a:srgbClr val="0B1E33">
              <a:alpha val="70000"/>
            </a:srgbClr>
          </a:solidFill>
          <a:ln w="9525">
            <a:solidFill>
              <a:srgbClr val="3A6EA5">
                <a:alpha val="45000"/>
              </a:srgbClr>
            </a:solidFill>
            <a:prstDash val="solid"/>
          </a:ln>
        </p:spPr>
      </p:sp>
      <p:sp>
        <p:nvSpPr>
          <p:cNvPr id="14" name="Text 11"/>
          <p:cNvSpPr txBox="1"/>
          <p:nvPr/>
        </p:nvSpPr>
        <p:spPr>
          <a:xfrm>
            <a:off x="1463040" y="5074920"/>
            <a:ext cx="1188720" cy="2103120"/>
          </a:xfrm>
          <a:prstGeom prst="rect">
            <a:avLst/>
          </a:prstGeom>
          <a:noFill/>
          <a:ln/>
        </p:spPr>
        <p:txBody>
          <a:bodyPr wrap="square" lIns="0" tIns="0" rIns="0" bIns="0" rtlCol="0" anchor="ctr"/>
          <a:lstStyle/>
          <a:p>
            <a:pPr marL="0" indent="0">
              <a:buNone/>
            </a:pPr>
            <a:r>
              <a:rPr lang="en-US" sz="3000" b="1" dirty="0">
                <a:solidFill>
                  <a:srgbClr val="5EEAD4"/>
                </a:solidFill>
                <a:latin typeface="Arial" pitchFamily="34" charset="0"/>
                <a:ea typeface="Arial" pitchFamily="34" charset="-122"/>
                <a:cs typeface="Arial" pitchFamily="34" charset="-120"/>
              </a:rPr>
              <a:t>03</a:t>
            </a:r>
            <a:endParaRPr lang="en-US" sz="3000" dirty="0"/>
          </a:p>
        </p:txBody>
      </p:sp>
      <p:sp>
        <p:nvSpPr>
          <p:cNvPr id="15" name="Text 12"/>
          <p:cNvSpPr txBox="1"/>
          <p:nvPr/>
        </p:nvSpPr>
        <p:spPr>
          <a:xfrm>
            <a:off x="2651760" y="5074920"/>
            <a:ext cx="6080760" cy="2103120"/>
          </a:xfrm>
          <a:prstGeom prst="rect">
            <a:avLst/>
          </a:prstGeom>
          <a:noFill/>
          <a:ln/>
        </p:spPr>
        <p:txBody>
          <a:bodyPr wrap="square" lIns="101600" tIns="101600" rIns="101600" bIns="101600" rtlCol="0" anchor="ctr"/>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Incoming messages reshape an agent’s decision — a nearby surplus can turn a planned ‘buy’ into a ‘wait.’</a:t>
            </a:r>
            <a:endParaRPr lang="en-US" sz="2400" dirty="0"/>
          </a:p>
        </p:txBody>
      </p:sp>
      <p:sp>
        <p:nvSpPr>
          <p:cNvPr id="16" name="Shape 13"/>
          <p:cNvSpPr/>
          <p:nvPr/>
        </p:nvSpPr>
        <p:spPr>
          <a:xfrm>
            <a:off x="9281160" y="5074920"/>
            <a:ext cx="7818120" cy="2103120"/>
          </a:xfrm>
          <a:prstGeom prst="roundRect">
            <a:avLst>
              <a:gd name="adj" fmla="val 5217"/>
            </a:avLst>
          </a:prstGeom>
          <a:solidFill>
            <a:srgbClr val="0B1E33">
              <a:alpha val="70000"/>
            </a:srgbClr>
          </a:solidFill>
          <a:ln w="9525">
            <a:solidFill>
              <a:srgbClr val="3A6EA5">
                <a:alpha val="45000"/>
              </a:srgbClr>
            </a:solidFill>
            <a:prstDash val="solid"/>
          </a:ln>
        </p:spPr>
      </p:sp>
      <p:sp>
        <p:nvSpPr>
          <p:cNvPr id="17" name="Text 14"/>
          <p:cNvSpPr txBox="1"/>
          <p:nvPr/>
        </p:nvSpPr>
        <p:spPr>
          <a:xfrm>
            <a:off x="9555480" y="5074920"/>
            <a:ext cx="1188720" cy="2103120"/>
          </a:xfrm>
          <a:prstGeom prst="rect">
            <a:avLst/>
          </a:prstGeom>
          <a:noFill/>
          <a:ln/>
        </p:spPr>
        <p:txBody>
          <a:bodyPr wrap="square" lIns="0" tIns="0" rIns="0" bIns="0" rtlCol="0" anchor="ctr"/>
          <a:lstStyle/>
          <a:p>
            <a:pPr marL="0" indent="0">
              <a:buNone/>
            </a:pPr>
            <a:r>
              <a:rPr lang="en-US" sz="3000" b="1" dirty="0">
                <a:solidFill>
                  <a:srgbClr val="5EEAD4"/>
                </a:solidFill>
                <a:latin typeface="Arial" pitchFamily="34" charset="0"/>
                <a:ea typeface="Arial" pitchFamily="34" charset="-122"/>
                <a:cs typeface="Arial" pitchFamily="34" charset="-120"/>
              </a:rPr>
              <a:t>04</a:t>
            </a:r>
            <a:endParaRPr lang="en-US" sz="3000" dirty="0"/>
          </a:p>
        </p:txBody>
      </p:sp>
      <p:sp>
        <p:nvSpPr>
          <p:cNvPr id="18" name="Text 15"/>
          <p:cNvSpPr txBox="1"/>
          <p:nvPr/>
        </p:nvSpPr>
        <p:spPr>
          <a:xfrm>
            <a:off x="10744200" y="5074920"/>
            <a:ext cx="6080760" cy="2103120"/>
          </a:xfrm>
          <a:prstGeom prst="rect">
            <a:avLst/>
          </a:prstGeom>
          <a:noFill/>
          <a:ln/>
        </p:spPr>
        <p:txBody>
          <a:bodyPr wrap="square" lIns="101600" tIns="101600" rIns="101600" bIns="101600" rtlCol="0" anchor="ctr"/>
          <a:lstStyle/>
          <a:p>
            <a:r>
              <a:rPr lang="en-US" sz="2400" dirty="0">
                <a:solidFill>
                  <a:srgbClr val="D7E3EE"/>
                </a:solidFill>
                <a:latin typeface="Calibri" pitchFamily="34" charset="0"/>
                <a:ea typeface="Calibri" pitchFamily="34" charset="-122"/>
                <a:cs typeface="Calibri" pitchFamily="34" charset="-120"/>
              </a:rPr>
              <a:t>More agents mean more messages — </a:t>
            </a:r>
            <a:r>
              <a:rPr lang="en-IN" sz="2400" dirty="0">
                <a:solidFill>
                  <a:schemeClr val="bg1"/>
                </a:solidFill>
              </a:rPr>
              <a:t>As the number of agents </a:t>
            </a:r>
            <a:r>
              <a:rPr lang="en-IN" sz="2400" i="1" dirty="0">
                <a:solidFill>
                  <a:schemeClr val="bg1"/>
                </a:solidFill>
              </a:rPr>
              <a:t>increases, </a:t>
            </a:r>
            <a:r>
              <a:rPr lang="en-US" sz="2400" i="1" dirty="0">
                <a:solidFill>
                  <a:srgbClr val="D7E3EE"/>
                </a:solidFill>
                <a:latin typeface="Calibri" pitchFamily="34" charset="0"/>
                <a:ea typeface="Calibri" pitchFamily="34" charset="-122"/>
                <a:cs typeface="Calibri" pitchFamily="34" charset="-120"/>
              </a:rPr>
              <a:t>overhead </a:t>
            </a:r>
            <a:r>
              <a:rPr lang="en-US" sz="2400" dirty="0">
                <a:solidFill>
                  <a:srgbClr val="D7E3EE"/>
                </a:solidFill>
                <a:latin typeface="Calibri" pitchFamily="34" charset="0"/>
                <a:ea typeface="Calibri" pitchFamily="34" charset="-122"/>
                <a:cs typeface="Calibri" pitchFamily="34" charset="-120"/>
              </a:rPr>
              <a:t>and delay become a real multi-agent bottleneck.</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8</a:t>
            </a:r>
            <a:endParaRPr lang="en-US" sz="2400" dirty="0"/>
          </a:p>
        </p:txBody>
      </p:sp>
      <p:sp>
        <p:nvSpPr>
          <p:cNvPr id="4" name="Text 1"/>
          <p:cNvSpPr txBox="1"/>
          <p:nvPr/>
        </p:nvSpPr>
        <p:spPr>
          <a:xfrm>
            <a:off x="14996160" y="502920"/>
            <a:ext cx="301752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5760720" y="662940"/>
            <a:ext cx="12801600" cy="1005840"/>
          </a:xfrm>
          <a:prstGeom prst="rect">
            <a:avLst/>
          </a:prstGeom>
          <a:noFill/>
          <a:ln/>
        </p:spPr>
        <p:txBody>
          <a:bodyPr wrap="square" lIns="0" tIns="0" rIns="0" bIns="0" rtlCol="0" anchor="ctr"/>
          <a:lstStyle/>
          <a:p>
            <a:pPr marL="0" indent="0" algn="l">
              <a:buNone/>
            </a:pPr>
            <a:r>
              <a:rPr lang="en-US" sz="4400" b="1" kern="0" spc="100" dirty="0">
                <a:solidFill>
                  <a:srgbClr val="FFFFFF"/>
                </a:solidFill>
                <a:latin typeface="Arial" pitchFamily="34" charset="0"/>
                <a:ea typeface="Arial" pitchFamily="34" charset="-122"/>
                <a:cs typeface="Arial" pitchFamily="34" charset="-120"/>
              </a:rPr>
              <a:t>ALGORITHMIC MODELING</a:t>
            </a:r>
            <a:endParaRPr lang="en-US" sz="4400" dirty="0"/>
          </a:p>
        </p:txBody>
      </p:sp>
      <p:sp>
        <p:nvSpPr>
          <p:cNvPr id="6" name="Text 3"/>
          <p:cNvSpPr txBox="1"/>
          <p:nvPr/>
        </p:nvSpPr>
        <p:spPr>
          <a:xfrm>
            <a:off x="7027817" y="1600200"/>
            <a:ext cx="12801600" cy="502920"/>
          </a:xfrm>
          <a:prstGeom prst="rect">
            <a:avLst/>
          </a:prstGeom>
          <a:noFill/>
          <a:ln/>
        </p:spPr>
        <p:txBody>
          <a:bodyPr wrap="square" lIns="0" tIns="0" rIns="0" bIns="0" rtlCol="0" anchor="ctr"/>
          <a:lstStyle/>
          <a:p>
            <a:pPr marL="0" indent="0" algn="l">
              <a:buNone/>
            </a:pPr>
            <a:r>
              <a:rPr lang="en-US" sz="2000" b="1" kern="0" spc="200" dirty="0">
                <a:solidFill>
                  <a:srgbClr val="5EEAD4"/>
                </a:solidFill>
                <a:latin typeface="Arial" pitchFamily="34" charset="0"/>
                <a:ea typeface="Arial" pitchFamily="34" charset="-122"/>
                <a:cs typeface="Arial" pitchFamily="34" charset="-120"/>
              </a:rPr>
              <a:t>SEARCH: SINGLE VS MULTI-AGENT</a:t>
            </a:r>
            <a:endParaRPr lang="en-US" sz="2000" dirty="0"/>
          </a:p>
        </p:txBody>
      </p:sp>
      <p:sp>
        <p:nvSpPr>
          <p:cNvPr id="7" name="Shape 4"/>
          <p:cNvSpPr/>
          <p:nvPr/>
        </p:nvSpPr>
        <p:spPr>
          <a:xfrm>
            <a:off x="1188720" y="2423160"/>
            <a:ext cx="15910560" cy="2377440"/>
          </a:xfrm>
          <a:prstGeom prst="roundRect">
            <a:avLst>
              <a:gd name="adj" fmla="val 3871"/>
            </a:avLst>
          </a:prstGeom>
          <a:solidFill>
            <a:srgbClr val="0B1E33">
              <a:alpha val="70000"/>
            </a:srgbClr>
          </a:solidFill>
          <a:ln w="9525">
            <a:solidFill>
              <a:srgbClr val="3A6EA5">
                <a:alpha val="45000"/>
              </a:srgbClr>
            </a:solidFill>
            <a:prstDash val="solid"/>
          </a:ln>
        </p:spPr>
      </p:sp>
      <p:sp>
        <p:nvSpPr>
          <p:cNvPr id="8" name="Text 5"/>
          <p:cNvSpPr txBox="1"/>
          <p:nvPr/>
        </p:nvSpPr>
        <p:spPr>
          <a:xfrm>
            <a:off x="1293223" y="2423160"/>
            <a:ext cx="15440297" cy="2834640"/>
          </a:xfrm>
          <a:prstGeom prst="rect">
            <a:avLst/>
          </a:prstGeom>
          <a:noFill/>
          <a:ln/>
        </p:spPr>
        <p:txBody>
          <a:bodyPr wrap="square" lIns="101600" tIns="101600" rIns="101600" bIns="101600" rtlCol="0" anchor="ctr"/>
          <a:lstStyle/>
          <a:p>
            <a:r>
              <a:rPr lang="en-IN" sz="2400" i="1" dirty="0">
                <a:solidFill>
                  <a:schemeClr val="bg1"/>
                </a:solidFill>
              </a:rPr>
              <a:t>A single household can use informed search, such as A*</a:t>
            </a:r>
            <a:r>
              <a:rPr lang="en-IN" sz="2400" dirty="0">
                <a:solidFill>
                  <a:schemeClr val="bg1"/>
                </a:solidFill>
              </a:rPr>
              <a:t>, to evaluate possible store/consume/sell actions. However, as the number of households increases, the joint state space grows rapidly, making centralized planning more computationally expensive. We therefore model coordination using decentralized negotiation, where each agent communicates its surplus or deficit and coordinates energy sharing with neighbouring agents</a:t>
            </a:r>
            <a:endParaRPr lang="en-US" sz="2400" dirty="0">
              <a:solidFill>
                <a:schemeClr val="bg1"/>
              </a:solidFill>
            </a:endParaRPr>
          </a:p>
        </p:txBody>
      </p:sp>
      <p:sp>
        <p:nvSpPr>
          <p:cNvPr id="9" name="Shape 6"/>
          <p:cNvSpPr/>
          <p:nvPr/>
        </p:nvSpPr>
        <p:spPr>
          <a:xfrm>
            <a:off x="1084217" y="5045835"/>
            <a:ext cx="15910560" cy="2103120"/>
          </a:xfrm>
          <a:prstGeom prst="roundRect">
            <a:avLst>
              <a:gd name="adj" fmla="val 5217"/>
            </a:avLst>
          </a:prstGeom>
          <a:solidFill>
            <a:srgbClr val="0B1E33">
              <a:alpha val="70000"/>
            </a:srgbClr>
          </a:solidFill>
          <a:ln w="9525">
            <a:solidFill>
              <a:srgbClr val="3A6EA5">
                <a:alpha val="45000"/>
              </a:srgbClr>
            </a:solidFill>
            <a:prstDash val="solid"/>
          </a:ln>
        </p:spPr>
        <p:txBody>
          <a:bodyPr/>
          <a:lstStyle/>
          <a:p>
            <a:endParaRPr lang="en-IN" dirty="0"/>
          </a:p>
        </p:txBody>
      </p:sp>
      <p:sp>
        <p:nvSpPr>
          <p:cNvPr id="10" name="Text 7"/>
          <p:cNvSpPr txBox="1"/>
          <p:nvPr/>
        </p:nvSpPr>
        <p:spPr>
          <a:xfrm>
            <a:off x="1397727" y="5045835"/>
            <a:ext cx="15179040" cy="2103120"/>
          </a:xfrm>
          <a:prstGeom prst="rect">
            <a:avLst/>
          </a:prstGeom>
          <a:noFill/>
          <a:ln/>
        </p:spPr>
        <p:txBody>
          <a:bodyPr wrap="square" lIns="101600" tIns="101600" rIns="101600" bIns="101600" rtlCol="0" anchor="ctr"/>
          <a:lstStyle/>
          <a:p>
            <a:r>
              <a:rPr lang="en-IN" sz="2400" b="1" dirty="0">
                <a:solidFill>
                  <a:schemeClr val="bg1"/>
                </a:solidFill>
              </a:rPr>
              <a:t>Comparative Breakdown:</a:t>
            </a:r>
            <a:r>
              <a:rPr lang="en-IN" sz="2400" dirty="0">
                <a:solidFill>
                  <a:schemeClr val="bg1"/>
                </a:solidFill>
              </a:rPr>
              <a:t> Centralized search considers a larger joint state space as more households are added, while decentralized negotiation evaluates local information and coordinates agents through communication. This reduces the need for a single controller to plan the </a:t>
            </a:r>
            <a:r>
              <a:rPr lang="en-IN" sz="2400">
                <a:solidFill>
                  <a:schemeClr val="bg1"/>
                </a:solidFill>
              </a:rPr>
              <a:t>complete neighbourhood </a:t>
            </a:r>
            <a:r>
              <a:rPr lang="en-IN" sz="2400" dirty="0">
                <a:solidFill>
                  <a:schemeClr val="bg1"/>
                </a:solidFill>
              </a:rPr>
              <a:t>state.</a:t>
            </a:r>
            <a:endParaRPr lang="en-US" sz="2400" dirty="0">
              <a:solidFill>
                <a:schemeClr val="bg1"/>
              </a:solidFill>
            </a:endParaRPr>
          </a:p>
        </p:txBody>
      </p:sp>
      <p:sp>
        <p:nvSpPr>
          <p:cNvPr id="12" name="Shape 6">
            <a:extLst>
              <a:ext uri="{FF2B5EF4-FFF2-40B4-BE49-F238E27FC236}">
                <a16:creationId xmlns:a16="http://schemas.microsoft.com/office/drawing/2014/main" id="{2CCA14E2-3526-AC19-F9B6-FC65352E4D00}"/>
              </a:ext>
            </a:extLst>
          </p:cNvPr>
          <p:cNvSpPr/>
          <p:nvPr/>
        </p:nvSpPr>
        <p:spPr>
          <a:xfrm>
            <a:off x="1084217" y="7394190"/>
            <a:ext cx="15910560" cy="2672919"/>
          </a:xfrm>
          <a:prstGeom prst="roundRect">
            <a:avLst>
              <a:gd name="adj" fmla="val 5217"/>
            </a:avLst>
          </a:prstGeom>
          <a:solidFill>
            <a:srgbClr val="0B1E33">
              <a:alpha val="70000"/>
            </a:srgbClr>
          </a:solidFill>
          <a:ln w="9525">
            <a:solidFill>
              <a:srgbClr val="3A6EA5">
                <a:alpha val="45000"/>
              </a:srgbClr>
            </a:solidFill>
            <a:prstDash val="solid"/>
          </a:ln>
        </p:spPr>
      </p:sp>
      <p:sp>
        <p:nvSpPr>
          <p:cNvPr id="13" name="TextBox 12">
            <a:extLst>
              <a:ext uri="{FF2B5EF4-FFF2-40B4-BE49-F238E27FC236}">
                <a16:creationId xmlns:a16="http://schemas.microsoft.com/office/drawing/2014/main" id="{2FB11D2A-C626-07F9-5866-E8246A3CAC78}"/>
              </a:ext>
            </a:extLst>
          </p:cNvPr>
          <p:cNvSpPr txBox="1"/>
          <p:nvPr/>
        </p:nvSpPr>
        <p:spPr>
          <a:xfrm>
            <a:off x="1293223" y="7591731"/>
            <a:ext cx="15597050" cy="2585323"/>
          </a:xfrm>
          <a:prstGeom prst="rect">
            <a:avLst/>
          </a:prstGeom>
          <a:noFill/>
        </p:spPr>
        <p:txBody>
          <a:bodyPr wrap="square" rtlCol="0">
            <a:spAutoFit/>
          </a:bodyPr>
          <a:lstStyle/>
          <a:p>
            <a:r>
              <a:rPr lang="en-IN" sz="2400" b="1" dirty="0">
                <a:solidFill>
                  <a:schemeClr val="bg1"/>
                </a:solidFill>
              </a:rPr>
              <a:t>Search Model</a:t>
            </a:r>
            <a:endParaRPr lang="en-IN" sz="2400" dirty="0">
              <a:solidFill>
                <a:schemeClr val="bg1"/>
              </a:solidFill>
            </a:endParaRPr>
          </a:p>
          <a:p>
            <a:pPr marL="342900" lvl="0" indent="-342900">
              <a:buFont typeface="Arial" panose="020B0604020202020204" pitchFamily="34" charset="0"/>
              <a:buChar char="•"/>
            </a:pPr>
            <a:r>
              <a:rPr lang="en-IN" sz="2400" b="1" dirty="0">
                <a:solidFill>
                  <a:schemeClr val="bg1"/>
                </a:solidFill>
              </a:rPr>
              <a:t>State:</a:t>
            </a:r>
            <a:r>
              <a:rPr lang="en-IN" sz="2400" dirty="0">
                <a:solidFill>
                  <a:schemeClr val="bg1"/>
                </a:solidFill>
              </a:rPr>
              <a:t> Solar generation + battery state + household demand + neighbouring surplus/deficit </a:t>
            </a:r>
          </a:p>
          <a:p>
            <a:pPr marL="342900" lvl="0" indent="-342900">
              <a:buFont typeface="Arial" panose="020B0604020202020204" pitchFamily="34" charset="0"/>
              <a:buChar char="•"/>
            </a:pPr>
            <a:r>
              <a:rPr lang="en-IN" sz="2400" b="1" dirty="0">
                <a:solidFill>
                  <a:schemeClr val="bg1"/>
                </a:solidFill>
              </a:rPr>
              <a:t>Actions:</a:t>
            </a:r>
            <a:r>
              <a:rPr lang="en-IN" sz="2400" dirty="0">
                <a:solidFill>
                  <a:schemeClr val="bg1"/>
                </a:solidFill>
              </a:rPr>
              <a:t> Charge, discharge, consume, buy, sell </a:t>
            </a:r>
          </a:p>
          <a:p>
            <a:pPr marL="342900" lvl="0" indent="-342900">
              <a:buFont typeface="Arial" panose="020B0604020202020204" pitchFamily="34" charset="0"/>
              <a:buChar char="•"/>
            </a:pPr>
            <a:r>
              <a:rPr lang="en-IN" sz="2400" b="1" dirty="0">
                <a:solidFill>
                  <a:schemeClr val="bg1"/>
                </a:solidFill>
              </a:rPr>
              <a:t>Goal:</a:t>
            </a:r>
            <a:r>
              <a:rPr lang="en-IN" sz="2400" dirty="0">
                <a:solidFill>
                  <a:schemeClr val="bg1"/>
                </a:solidFill>
              </a:rPr>
              <a:t> Satisfy demand while maintaining battery constraints and reducing grid dependence </a:t>
            </a:r>
          </a:p>
          <a:p>
            <a:pPr marL="342900" lvl="0" indent="-342900">
              <a:buFont typeface="Arial" panose="020B0604020202020204" pitchFamily="34" charset="0"/>
              <a:buChar char="•"/>
            </a:pPr>
            <a:r>
              <a:rPr lang="en-IN" sz="2400" b="1" dirty="0">
                <a:solidFill>
                  <a:schemeClr val="bg1"/>
                </a:solidFill>
              </a:rPr>
              <a:t>Search:</a:t>
            </a:r>
            <a:r>
              <a:rPr lang="en-IN" sz="2400" dirty="0">
                <a:solidFill>
                  <a:schemeClr val="bg1"/>
                </a:solidFill>
              </a:rPr>
              <a:t> A* can evaluate local action sequences; decentralized negotiation handles multi-agent coordination </a:t>
            </a:r>
          </a:p>
          <a:p>
            <a:pPr marL="342900" lvl="0" indent="-342900">
              <a:buFont typeface="Arial" panose="020B0604020202020204" pitchFamily="34" charset="0"/>
              <a:buChar char="•"/>
            </a:pPr>
            <a:r>
              <a:rPr lang="en-IN" sz="2400" b="1" dirty="0">
                <a:solidFill>
                  <a:schemeClr val="bg1"/>
                </a:solidFill>
              </a:rPr>
              <a:t>Cost/Heuristic:</a:t>
            </a:r>
            <a:r>
              <a:rPr lang="en-IN" sz="2400" dirty="0">
                <a:solidFill>
                  <a:schemeClr val="bg1"/>
                </a:solidFill>
              </a:rPr>
              <a:t> Energy cost + shortage/overload penalty + battery constraint</a:t>
            </a:r>
          </a:p>
          <a:p>
            <a:endParaRPr lang="en-IN"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9</a:t>
            </a:r>
            <a:endParaRPr lang="en-US" sz="2400" dirty="0"/>
          </a:p>
        </p:txBody>
      </p:sp>
      <p:sp>
        <p:nvSpPr>
          <p:cNvPr id="4" name="Text 1"/>
          <p:cNvSpPr txBox="1"/>
          <p:nvPr/>
        </p:nvSpPr>
        <p:spPr>
          <a:xfrm>
            <a:off x="1051560" y="502920"/>
            <a:ext cx="320040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4251960" y="421563"/>
            <a:ext cx="13716000" cy="1005840"/>
          </a:xfrm>
          <a:prstGeom prst="rect">
            <a:avLst/>
          </a:prstGeom>
          <a:noFill/>
          <a:ln/>
        </p:spPr>
        <p:txBody>
          <a:bodyPr wrap="square" lIns="0" tIns="0" rIns="0" bIns="0" rtlCol="0" anchor="ctr"/>
          <a:lstStyle/>
          <a:p>
            <a:pPr marL="0" indent="0" algn="l">
              <a:buNone/>
            </a:pPr>
            <a:r>
              <a:rPr lang="en-US" sz="4400" b="1" kern="0" spc="100" dirty="0">
                <a:solidFill>
                  <a:srgbClr val="FFFFFF"/>
                </a:solidFill>
                <a:latin typeface="Arial" pitchFamily="34" charset="0"/>
                <a:ea typeface="Arial" pitchFamily="34" charset="-122"/>
                <a:cs typeface="Arial" pitchFamily="34" charset="-120"/>
              </a:rPr>
              <a:t>PROPOSED ARCHITECTURE</a:t>
            </a:r>
            <a:endParaRPr lang="en-US" sz="4400" dirty="0"/>
          </a:p>
        </p:txBody>
      </p:sp>
      <p:pic>
        <p:nvPicPr>
          <p:cNvPr id="8" name="Picture 7">
            <a:extLst>
              <a:ext uri="{FF2B5EF4-FFF2-40B4-BE49-F238E27FC236}">
                <a16:creationId xmlns:a16="http://schemas.microsoft.com/office/drawing/2014/main" id="{97F7E82A-2338-4878-AF56-E8A9E328C493}"/>
              </a:ext>
            </a:extLst>
          </p:cNvPr>
          <p:cNvPicPr>
            <a:picLocks noChangeAspect="1"/>
          </p:cNvPicPr>
          <p:nvPr/>
        </p:nvPicPr>
        <p:blipFill>
          <a:blip r:embed="rId4"/>
          <a:stretch>
            <a:fillRect/>
          </a:stretch>
        </p:blipFill>
        <p:spPr>
          <a:xfrm>
            <a:off x="1609104" y="1760506"/>
            <a:ext cx="14756284" cy="76020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10</a:t>
            </a:r>
            <a:endParaRPr lang="en-US" sz="2400" dirty="0"/>
          </a:p>
        </p:txBody>
      </p:sp>
      <p:sp>
        <p:nvSpPr>
          <p:cNvPr id="4" name="Text 1"/>
          <p:cNvSpPr txBox="1"/>
          <p:nvPr/>
        </p:nvSpPr>
        <p:spPr>
          <a:xfrm>
            <a:off x="1051560" y="502920"/>
            <a:ext cx="320040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5623560" y="826226"/>
            <a:ext cx="13716000" cy="1005840"/>
          </a:xfrm>
          <a:prstGeom prst="rect">
            <a:avLst/>
          </a:prstGeom>
          <a:noFill/>
          <a:ln/>
        </p:spPr>
        <p:txBody>
          <a:bodyPr wrap="square" lIns="0" tIns="0" rIns="0" bIns="0" rtlCol="0" anchor="ctr"/>
          <a:lstStyle/>
          <a:p>
            <a:pPr marL="0" indent="0" algn="l">
              <a:buNone/>
            </a:pPr>
            <a:r>
              <a:rPr lang="en-US" sz="4400" b="1" kern="0" spc="100" dirty="0">
                <a:solidFill>
                  <a:srgbClr val="FFFFFF"/>
                </a:solidFill>
                <a:latin typeface="Arial" pitchFamily="34" charset="0"/>
                <a:ea typeface="Arial" pitchFamily="34" charset="-122"/>
                <a:cs typeface="Arial" pitchFamily="34" charset="-120"/>
              </a:rPr>
              <a:t>WHAT COULD GO WRONG</a:t>
            </a:r>
            <a:endParaRPr lang="en-US" sz="4400" dirty="0"/>
          </a:p>
        </p:txBody>
      </p:sp>
      <p:sp>
        <p:nvSpPr>
          <p:cNvPr id="6" name="Text 3"/>
          <p:cNvSpPr txBox="1"/>
          <p:nvPr/>
        </p:nvSpPr>
        <p:spPr>
          <a:xfrm>
            <a:off x="7132320" y="1774100"/>
            <a:ext cx="12801600" cy="502920"/>
          </a:xfrm>
          <a:prstGeom prst="rect">
            <a:avLst/>
          </a:prstGeom>
          <a:noFill/>
          <a:ln/>
        </p:spPr>
        <p:txBody>
          <a:bodyPr wrap="square" lIns="0" tIns="0" rIns="0" bIns="0" rtlCol="0" anchor="ctr"/>
          <a:lstStyle/>
          <a:p>
            <a:pPr marL="0" indent="0" algn="l">
              <a:buNone/>
            </a:pPr>
            <a:r>
              <a:rPr lang="en-US" sz="2000" b="1" kern="0" spc="200" dirty="0">
                <a:solidFill>
                  <a:srgbClr val="5EEAD4"/>
                </a:solidFill>
                <a:latin typeface="Arial" pitchFamily="34" charset="0"/>
                <a:ea typeface="Arial" pitchFamily="34" charset="-122"/>
                <a:cs typeface="Arial" pitchFamily="34" charset="-120"/>
              </a:rPr>
              <a:t>KEY CHALLENGES</a:t>
            </a:r>
            <a:endParaRPr lang="en-US" sz="2000" dirty="0"/>
          </a:p>
        </p:txBody>
      </p:sp>
      <p:sp>
        <p:nvSpPr>
          <p:cNvPr id="7" name="Shape 4"/>
          <p:cNvSpPr/>
          <p:nvPr/>
        </p:nvSpPr>
        <p:spPr>
          <a:xfrm>
            <a:off x="1188720" y="2697480"/>
            <a:ext cx="7818120" cy="2103120"/>
          </a:xfrm>
          <a:prstGeom prst="roundRect">
            <a:avLst>
              <a:gd name="adj" fmla="val 5217"/>
            </a:avLst>
          </a:prstGeom>
          <a:solidFill>
            <a:srgbClr val="0B1E33">
              <a:alpha val="70000"/>
            </a:srgbClr>
          </a:solidFill>
          <a:ln w="9525">
            <a:solidFill>
              <a:srgbClr val="3A6EA5">
                <a:alpha val="45000"/>
              </a:srgbClr>
            </a:solidFill>
            <a:prstDash val="solid"/>
          </a:ln>
        </p:spPr>
      </p:sp>
      <p:sp>
        <p:nvSpPr>
          <p:cNvPr id="8" name="Text 5"/>
          <p:cNvSpPr txBox="1"/>
          <p:nvPr/>
        </p:nvSpPr>
        <p:spPr>
          <a:xfrm>
            <a:off x="1508760" y="2971800"/>
            <a:ext cx="717804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VOLATILITY</a:t>
            </a:r>
            <a:endParaRPr lang="en-US" sz="2400" dirty="0"/>
          </a:p>
        </p:txBody>
      </p:sp>
      <p:sp>
        <p:nvSpPr>
          <p:cNvPr id="9" name="Text 6"/>
          <p:cNvSpPr txBox="1"/>
          <p:nvPr/>
        </p:nvSpPr>
        <p:spPr>
          <a:xfrm>
            <a:off x="1508760" y="3380014"/>
            <a:ext cx="7178040" cy="100584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Dynamic energy demand and unpredictable solar generation keep shifting the state agents must plan around.</a:t>
            </a:r>
            <a:endParaRPr lang="en-US" sz="2400" dirty="0"/>
          </a:p>
        </p:txBody>
      </p:sp>
      <p:sp>
        <p:nvSpPr>
          <p:cNvPr id="10" name="Shape 7"/>
          <p:cNvSpPr/>
          <p:nvPr/>
        </p:nvSpPr>
        <p:spPr>
          <a:xfrm>
            <a:off x="9281160" y="2697480"/>
            <a:ext cx="7818120" cy="2103120"/>
          </a:xfrm>
          <a:prstGeom prst="roundRect">
            <a:avLst>
              <a:gd name="adj" fmla="val 5217"/>
            </a:avLst>
          </a:prstGeom>
          <a:solidFill>
            <a:srgbClr val="0B1E33">
              <a:alpha val="70000"/>
            </a:srgbClr>
          </a:solidFill>
          <a:ln w="9525">
            <a:solidFill>
              <a:srgbClr val="3A6EA5">
                <a:alpha val="45000"/>
              </a:srgbClr>
            </a:solidFill>
            <a:prstDash val="solid"/>
          </a:ln>
        </p:spPr>
      </p:sp>
      <p:sp>
        <p:nvSpPr>
          <p:cNvPr id="11" name="Text 8"/>
          <p:cNvSpPr txBox="1"/>
          <p:nvPr/>
        </p:nvSpPr>
        <p:spPr>
          <a:xfrm>
            <a:off x="9601200" y="2971800"/>
            <a:ext cx="717804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SCALING</a:t>
            </a:r>
            <a:endParaRPr lang="en-US" sz="2400" dirty="0"/>
          </a:p>
        </p:txBody>
      </p:sp>
      <p:sp>
        <p:nvSpPr>
          <p:cNvPr id="12" name="Text 9"/>
          <p:cNvSpPr txBox="1"/>
          <p:nvPr/>
        </p:nvSpPr>
        <p:spPr>
          <a:xfrm>
            <a:off x="9601200" y="3566160"/>
            <a:ext cx="7178040" cy="100584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Coordinating many agents without a central authority risks unstable or inefficient allocation.</a:t>
            </a:r>
            <a:endParaRPr lang="en-US" sz="2400" dirty="0"/>
          </a:p>
        </p:txBody>
      </p:sp>
      <p:sp>
        <p:nvSpPr>
          <p:cNvPr id="13" name="Shape 10"/>
          <p:cNvSpPr/>
          <p:nvPr/>
        </p:nvSpPr>
        <p:spPr>
          <a:xfrm>
            <a:off x="1188720" y="5074920"/>
            <a:ext cx="7818120" cy="2103120"/>
          </a:xfrm>
          <a:prstGeom prst="roundRect">
            <a:avLst>
              <a:gd name="adj" fmla="val 5217"/>
            </a:avLst>
          </a:prstGeom>
          <a:solidFill>
            <a:srgbClr val="0B1E33">
              <a:alpha val="70000"/>
            </a:srgbClr>
          </a:solidFill>
          <a:ln w="9525">
            <a:solidFill>
              <a:srgbClr val="3A6EA5">
                <a:alpha val="45000"/>
              </a:srgbClr>
            </a:solidFill>
            <a:prstDash val="solid"/>
          </a:ln>
        </p:spPr>
      </p:sp>
      <p:sp>
        <p:nvSpPr>
          <p:cNvPr id="14" name="Text 11"/>
          <p:cNvSpPr txBox="1"/>
          <p:nvPr/>
        </p:nvSpPr>
        <p:spPr>
          <a:xfrm>
            <a:off x="1508760" y="5349240"/>
            <a:ext cx="7178040" cy="457200"/>
          </a:xfrm>
          <a:prstGeom prst="rect">
            <a:avLst/>
          </a:prstGeom>
          <a:noFill/>
          <a:ln/>
        </p:spPr>
        <p:txBody>
          <a:bodyPr wrap="square" lIns="0" tIns="0" rIns="0" bIns="0" rtlCol="0" anchor="ctr"/>
          <a:lstStyle/>
          <a:p>
            <a:pPr marL="0" indent="0" algn="l">
              <a:buNone/>
            </a:pPr>
            <a:r>
              <a:rPr lang="en-US" sz="2400" b="1" kern="0" spc="100" dirty="0">
                <a:solidFill>
                  <a:srgbClr val="7DD3FC"/>
                </a:solidFill>
                <a:latin typeface="Arial" pitchFamily="34" charset="0"/>
                <a:ea typeface="Arial" pitchFamily="34" charset="-122"/>
                <a:cs typeface="Arial" pitchFamily="34" charset="-120"/>
              </a:rPr>
              <a:t>OVERHEAD</a:t>
            </a:r>
            <a:endParaRPr lang="en-US" sz="2400" dirty="0"/>
          </a:p>
        </p:txBody>
      </p:sp>
      <p:sp>
        <p:nvSpPr>
          <p:cNvPr id="15" name="Text 12"/>
          <p:cNvSpPr txBox="1"/>
          <p:nvPr/>
        </p:nvSpPr>
        <p:spPr>
          <a:xfrm>
            <a:off x="1508760" y="5943600"/>
            <a:ext cx="7178040" cy="1005840"/>
          </a:xfrm>
          <a:prstGeom prst="rect">
            <a:avLst/>
          </a:prstGeom>
          <a:noFill/>
          <a:ln/>
        </p:spPr>
        <p:txBody>
          <a:bodyPr wrap="square" lIns="101600" tIns="101600" rIns="101600" bIns="101600" rtlCol="0" anchor="t"/>
          <a:lstStyle/>
          <a:p>
            <a:pPr marL="0" indent="0" algn="l">
              <a:lnSpc>
                <a:spcPct val="115000"/>
              </a:lnSpc>
              <a:buNone/>
            </a:pPr>
            <a:r>
              <a:rPr lang="en-US" sz="2400" dirty="0">
                <a:solidFill>
                  <a:srgbClr val="D7E3EE"/>
                </a:solidFill>
                <a:latin typeface="Calibri" pitchFamily="34" charset="0"/>
                <a:ea typeface="Calibri" pitchFamily="34" charset="-122"/>
                <a:cs typeface="Calibri" pitchFamily="34" charset="-120"/>
              </a:rPr>
              <a:t>Message overhead and delay slow negotiation as the neighborhood scales up.</a:t>
            </a:r>
            <a:endParaRPr lang="en-US" sz="2400" dirty="0"/>
          </a:p>
        </p:txBody>
      </p:sp>
      <p:sp>
        <p:nvSpPr>
          <p:cNvPr id="16" name="Shape 13"/>
          <p:cNvSpPr/>
          <p:nvPr/>
        </p:nvSpPr>
        <p:spPr>
          <a:xfrm>
            <a:off x="9281160" y="5074920"/>
            <a:ext cx="7818120" cy="2103120"/>
          </a:xfrm>
          <a:prstGeom prst="roundRect">
            <a:avLst>
              <a:gd name="adj" fmla="val 5217"/>
            </a:avLst>
          </a:prstGeom>
          <a:solidFill>
            <a:srgbClr val="0B1E33">
              <a:alpha val="70000"/>
            </a:srgbClr>
          </a:solidFill>
          <a:ln w="9525">
            <a:solidFill>
              <a:srgbClr val="3A6EA5">
                <a:alpha val="45000"/>
              </a:srgbClr>
            </a:solidFill>
            <a:prstDash val="solid"/>
          </a:ln>
        </p:spPr>
      </p:sp>
      <p:sp>
        <p:nvSpPr>
          <p:cNvPr id="17" name="Text 14"/>
          <p:cNvSpPr txBox="1"/>
          <p:nvPr/>
        </p:nvSpPr>
        <p:spPr>
          <a:xfrm>
            <a:off x="9601200" y="5519874"/>
            <a:ext cx="7178040" cy="457200"/>
          </a:xfrm>
          <a:prstGeom prst="rect">
            <a:avLst/>
          </a:prstGeom>
          <a:noFill/>
          <a:ln/>
        </p:spPr>
        <p:txBody>
          <a:bodyPr wrap="square" lIns="0" tIns="0" rIns="0" bIns="0" rtlCol="0" anchor="ctr"/>
          <a:lstStyle/>
          <a:p>
            <a:r>
              <a:rPr lang="en-IN" sz="2400" b="1" dirty="0">
                <a:solidFill>
                  <a:schemeClr val="accent5"/>
                </a:solidFill>
                <a:latin typeface="Arial" panose="020B0604020202020204" pitchFamily="34" charset="0"/>
                <a:cs typeface="Arial" panose="020B0604020202020204" pitchFamily="34" charset="0"/>
              </a:rPr>
              <a:t>COORDINATION</a:t>
            </a:r>
          </a:p>
          <a:p>
            <a:pPr marL="0" indent="0" algn="l">
              <a:buNone/>
            </a:pPr>
            <a:endParaRPr lang="en-US" sz="2400" dirty="0"/>
          </a:p>
        </p:txBody>
      </p:sp>
      <p:sp>
        <p:nvSpPr>
          <p:cNvPr id="18" name="Text 15"/>
          <p:cNvSpPr txBox="1"/>
          <p:nvPr/>
        </p:nvSpPr>
        <p:spPr>
          <a:xfrm>
            <a:off x="9601200" y="5806440"/>
            <a:ext cx="7498080" cy="1005840"/>
          </a:xfrm>
          <a:prstGeom prst="rect">
            <a:avLst/>
          </a:prstGeom>
          <a:noFill/>
          <a:ln/>
        </p:spPr>
        <p:txBody>
          <a:bodyPr wrap="square" lIns="101600" tIns="101600" rIns="101600" bIns="101600" rtlCol="0" anchor="t"/>
          <a:lstStyle/>
          <a:p>
            <a:pPr>
              <a:lnSpc>
                <a:spcPct val="100000"/>
              </a:lnSpc>
            </a:pPr>
            <a:r>
              <a:rPr lang="en-IN" sz="2400" dirty="0">
                <a:solidFill>
                  <a:schemeClr val="bg2"/>
                </a:solidFill>
              </a:rPr>
              <a:t>Coordinating local household decisions while maintaining neighbourhood-wide load balancing becomes more difficult as the number of agents increases.</a:t>
            </a:r>
          </a:p>
          <a:p>
            <a:pPr marL="0" indent="0" algn="l">
              <a:lnSpc>
                <a:spcPct val="115000"/>
              </a:lnSpc>
              <a:buNone/>
            </a:pPr>
            <a:endParaRPr lang="en-US" sz="2400" dirty="0">
              <a:solidFill>
                <a:schemeClr val="bg2"/>
              </a:solidFill>
            </a:endParaRPr>
          </a:p>
        </p:txBody>
      </p:sp>
      <p:sp>
        <p:nvSpPr>
          <p:cNvPr id="20" name="Shape 10">
            <a:extLst>
              <a:ext uri="{FF2B5EF4-FFF2-40B4-BE49-F238E27FC236}">
                <a16:creationId xmlns:a16="http://schemas.microsoft.com/office/drawing/2014/main" id="{16E5BA5D-41AA-CF98-C0BF-4922962EE75B}"/>
              </a:ext>
            </a:extLst>
          </p:cNvPr>
          <p:cNvSpPr/>
          <p:nvPr/>
        </p:nvSpPr>
        <p:spPr>
          <a:xfrm>
            <a:off x="5372100" y="7610747"/>
            <a:ext cx="7818120" cy="2103120"/>
          </a:xfrm>
          <a:prstGeom prst="roundRect">
            <a:avLst>
              <a:gd name="adj" fmla="val 5217"/>
            </a:avLst>
          </a:prstGeom>
          <a:solidFill>
            <a:srgbClr val="0B1E33">
              <a:alpha val="70000"/>
            </a:srgbClr>
          </a:solidFill>
          <a:ln w="9525">
            <a:solidFill>
              <a:srgbClr val="3A6EA5">
                <a:alpha val="45000"/>
              </a:srgbClr>
            </a:solidFill>
            <a:prstDash val="solid"/>
          </a:ln>
        </p:spPr>
        <p:txBody>
          <a:bodyPr/>
          <a:lstStyle/>
          <a:p>
            <a:endParaRPr lang="en-IN" dirty="0"/>
          </a:p>
          <a:p>
            <a:endParaRPr lang="en-IN" dirty="0"/>
          </a:p>
          <a:p>
            <a:r>
              <a:rPr lang="en-IN" sz="2400" dirty="0">
                <a:solidFill>
                  <a:schemeClr val="bg2"/>
                </a:solidFill>
              </a:rPr>
              <a:t>Each household has local information and may not have complete knowledge of the neighbourhood's current state.</a:t>
            </a:r>
          </a:p>
          <a:p>
            <a:endParaRPr lang="en-IN" dirty="0"/>
          </a:p>
        </p:txBody>
      </p:sp>
      <p:sp>
        <p:nvSpPr>
          <p:cNvPr id="21" name="TextBox 20">
            <a:extLst>
              <a:ext uri="{FF2B5EF4-FFF2-40B4-BE49-F238E27FC236}">
                <a16:creationId xmlns:a16="http://schemas.microsoft.com/office/drawing/2014/main" id="{29958827-357B-68C8-CFA2-0337D2D5C0FE}"/>
              </a:ext>
            </a:extLst>
          </p:cNvPr>
          <p:cNvSpPr txBox="1"/>
          <p:nvPr/>
        </p:nvSpPr>
        <p:spPr>
          <a:xfrm>
            <a:off x="7029450" y="7662565"/>
            <a:ext cx="4229100" cy="461665"/>
          </a:xfrm>
          <a:prstGeom prst="rect">
            <a:avLst/>
          </a:prstGeom>
          <a:noFill/>
        </p:spPr>
        <p:txBody>
          <a:bodyPr wrap="square" rtlCol="0">
            <a:spAutoFit/>
          </a:bodyPr>
          <a:lstStyle/>
          <a:p>
            <a:r>
              <a:rPr lang="en-IN" sz="2400" b="1" dirty="0">
                <a:solidFill>
                  <a:schemeClr val="accent5"/>
                </a:solidFill>
                <a:latin typeface="Arial" panose="020B0604020202020204" pitchFamily="34" charset="0"/>
                <a:cs typeface="Arial" panose="020B0604020202020204" pitchFamily="34" charset="0"/>
              </a:rPr>
              <a:t>PARTIAL OBSERVABILITY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work/bg.jpe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16733520" y="9601200"/>
            <a:ext cx="1280160" cy="365760"/>
          </a:xfrm>
          <a:prstGeom prst="rect">
            <a:avLst/>
          </a:prstGeom>
          <a:noFill/>
          <a:ln/>
        </p:spPr>
        <p:txBody>
          <a:bodyPr wrap="square" lIns="0" tIns="0" rIns="0" bIns="0" rtlCol="0" anchor="ctr"/>
          <a:lstStyle/>
          <a:p>
            <a:pPr marL="0" indent="0" algn="r">
              <a:buNone/>
            </a:pPr>
            <a:r>
              <a:rPr lang="en-US" sz="2400" dirty="0">
                <a:solidFill>
                  <a:srgbClr val="FFFFFF"/>
                </a:solidFill>
                <a:latin typeface="Calibri" pitchFamily="34" charset="0"/>
                <a:ea typeface="Calibri" pitchFamily="34" charset="-122"/>
                <a:cs typeface="Calibri" pitchFamily="34" charset="-120"/>
              </a:rPr>
              <a:t>Page 11</a:t>
            </a:r>
            <a:endParaRPr lang="en-US" sz="2400" dirty="0"/>
          </a:p>
        </p:txBody>
      </p:sp>
      <p:sp>
        <p:nvSpPr>
          <p:cNvPr id="4" name="Text 1"/>
          <p:cNvSpPr txBox="1"/>
          <p:nvPr/>
        </p:nvSpPr>
        <p:spPr>
          <a:xfrm>
            <a:off x="1051560" y="502920"/>
            <a:ext cx="3200400" cy="2011680"/>
          </a:xfrm>
          <a:prstGeom prst="rect">
            <a:avLst/>
          </a:prstGeom>
          <a:noFill/>
          <a:ln/>
        </p:spPr>
        <p:txBody>
          <a:bodyPr wrap="square" lIns="0" tIns="0" rIns="0" bIns="0" rtlCol="0" anchor="ctr"/>
          <a:lstStyle/>
          <a:p>
            <a:pPr marL="0" indent="0" algn="l">
              <a:buNone/>
            </a:pPr>
            <a:endParaRPr lang="en-US" sz="15000" dirty="0"/>
          </a:p>
        </p:txBody>
      </p:sp>
      <p:sp>
        <p:nvSpPr>
          <p:cNvPr id="5" name="Text 2"/>
          <p:cNvSpPr txBox="1"/>
          <p:nvPr/>
        </p:nvSpPr>
        <p:spPr>
          <a:xfrm>
            <a:off x="2651760" y="659673"/>
            <a:ext cx="12801600" cy="702129"/>
          </a:xfrm>
          <a:prstGeom prst="rect">
            <a:avLst/>
          </a:prstGeom>
          <a:noFill/>
          <a:ln/>
        </p:spPr>
        <p:txBody>
          <a:bodyPr wrap="square" lIns="0" tIns="0" rIns="0" bIns="0" rtlCol="0" anchor="ctr"/>
          <a:lstStyle/>
          <a:p>
            <a:pPr marL="0" indent="0" algn="ctr">
              <a:buNone/>
            </a:pPr>
            <a:r>
              <a:rPr lang="en-US" sz="4400" b="1" dirty="0">
                <a:solidFill>
                  <a:schemeClr val="bg1"/>
                </a:solidFill>
                <a:latin typeface="Arial" panose="020B0604020202020204" pitchFamily="34" charset="0"/>
                <a:cs typeface="Arial" panose="020B0604020202020204" pitchFamily="34" charset="0"/>
              </a:rPr>
              <a:t>TOOLS AND TECHNOLOGIES</a:t>
            </a:r>
          </a:p>
        </p:txBody>
      </p:sp>
      <p:graphicFrame>
        <p:nvGraphicFramePr>
          <p:cNvPr id="21" name="Table 20">
            <a:extLst>
              <a:ext uri="{FF2B5EF4-FFF2-40B4-BE49-F238E27FC236}">
                <a16:creationId xmlns:a16="http://schemas.microsoft.com/office/drawing/2014/main" id="{FD3B3633-24A6-69AD-BB4C-665FF3158896}"/>
              </a:ext>
            </a:extLst>
          </p:cNvPr>
          <p:cNvGraphicFramePr>
            <a:graphicFrameLocks noGrp="1"/>
          </p:cNvGraphicFramePr>
          <p:nvPr>
            <p:extLst>
              <p:ext uri="{D42A27DB-BD31-4B8C-83A1-F6EECF244321}">
                <p14:modId xmlns:p14="http://schemas.microsoft.com/office/powerpoint/2010/main" val="4114364322"/>
              </p:ext>
            </p:extLst>
          </p:nvPr>
        </p:nvGraphicFramePr>
        <p:xfrm>
          <a:off x="2527663" y="1871254"/>
          <a:ext cx="14708777" cy="7076800"/>
        </p:xfrm>
        <a:graphic>
          <a:graphicData uri="http://schemas.openxmlformats.org/drawingml/2006/table">
            <a:tbl>
              <a:tblPr firstRow="1" bandRow="1">
                <a:tableStyleId>{5C22544A-7EE6-4342-B048-85BDC9FD1C3A}</a:tableStyleId>
              </a:tblPr>
              <a:tblGrid>
                <a:gridCol w="2195703">
                  <a:extLst>
                    <a:ext uri="{9D8B030D-6E8A-4147-A177-3AD203B41FA5}">
                      <a16:colId xmlns:a16="http://schemas.microsoft.com/office/drawing/2014/main" val="3933962795"/>
                    </a:ext>
                  </a:extLst>
                </a:gridCol>
                <a:gridCol w="2228234">
                  <a:extLst>
                    <a:ext uri="{9D8B030D-6E8A-4147-A177-3AD203B41FA5}">
                      <a16:colId xmlns:a16="http://schemas.microsoft.com/office/drawing/2014/main" val="399337001"/>
                    </a:ext>
                  </a:extLst>
                </a:gridCol>
                <a:gridCol w="3431803">
                  <a:extLst>
                    <a:ext uri="{9D8B030D-6E8A-4147-A177-3AD203B41FA5}">
                      <a16:colId xmlns:a16="http://schemas.microsoft.com/office/drawing/2014/main" val="218870588"/>
                    </a:ext>
                  </a:extLst>
                </a:gridCol>
                <a:gridCol w="6853037">
                  <a:extLst>
                    <a:ext uri="{9D8B030D-6E8A-4147-A177-3AD203B41FA5}">
                      <a16:colId xmlns:a16="http://schemas.microsoft.com/office/drawing/2014/main" val="2311947084"/>
                    </a:ext>
                  </a:extLst>
                </a:gridCol>
              </a:tblGrid>
              <a:tr h="707680">
                <a:tc>
                  <a:txBody>
                    <a:bodyPr/>
                    <a:lstStyle/>
                    <a:p>
                      <a:pPr algn="ctr">
                        <a:spcBef>
                          <a:spcPts val="0"/>
                        </a:spcBef>
                        <a:spcAft>
                          <a:spcPts val="0"/>
                        </a:spcAft>
                      </a:pPr>
                      <a:r>
                        <a:rPr sz="1600" b="1" dirty="0">
                          <a:solidFill>
                            <a:srgbClr val="FFFFFF"/>
                          </a:solidFill>
                          <a:latin typeface="Aptos" panose="020B0004020202020204" pitchFamily="34" charset="0"/>
                        </a:rPr>
                        <a:t>Layer</a:t>
                      </a:r>
                    </a:p>
                  </a:txBody>
                  <a:tcPr marL="73152" marR="64008" marT="22860" marB="22860" anchor="ctr">
                    <a:solidFill>
                      <a:srgbClr val="14304E"/>
                    </a:solidFill>
                  </a:tcPr>
                </a:tc>
                <a:tc>
                  <a:txBody>
                    <a:bodyPr/>
                    <a:lstStyle/>
                    <a:p>
                      <a:pPr algn="ctr">
                        <a:spcBef>
                          <a:spcPts val="0"/>
                        </a:spcBef>
                        <a:spcAft>
                          <a:spcPts val="0"/>
                        </a:spcAft>
                      </a:pPr>
                      <a:r>
                        <a:rPr sz="1600" b="1" dirty="0">
                          <a:solidFill>
                            <a:srgbClr val="FFFFFF"/>
                          </a:solidFill>
                          <a:latin typeface="Aptos" panose="020B0004020202020204" pitchFamily="34" charset="0"/>
                        </a:rPr>
                        <a:t>Tool / Version</a:t>
                      </a:r>
                    </a:p>
                  </a:txBody>
                  <a:tcPr marL="73152" marR="64008" marT="22860" marB="22860" anchor="ctr">
                    <a:solidFill>
                      <a:srgbClr val="14304E"/>
                    </a:solidFill>
                  </a:tcPr>
                </a:tc>
                <a:tc>
                  <a:txBody>
                    <a:bodyPr/>
                    <a:lstStyle/>
                    <a:p>
                      <a:pPr algn="ctr">
                        <a:spcBef>
                          <a:spcPts val="0"/>
                        </a:spcBef>
                        <a:spcAft>
                          <a:spcPts val="0"/>
                        </a:spcAft>
                      </a:pPr>
                      <a:r>
                        <a:rPr sz="1600" b="1" dirty="0">
                          <a:solidFill>
                            <a:srgbClr val="FFFFFF"/>
                          </a:solidFill>
                          <a:latin typeface="Aptos" panose="020B0004020202020204" pitchFamily="34" charset="0"/>
                        </a:rPr>
                        <a:t>Primary Role</a:t>
                      </a:r>
                    </a:p>
                  </a:txBody>
                  <a:tcPr marL="73152" marR="64008" marT="22860" marB="22860" anchor="ctr">
                    <a:solidFill>
                      <a:srgbClr val="14304E"/>
                    </a:solidFill>
                  </a:tcPr>
                </a:tc>
                <a:tc>
                  <a:txBody>
                    <a:bodyPr/>
                    <a:lstStyle/>
                    <a:p>
                      <a:pPr algn="ctr">
                        <a:spcBef>
                          <a:spcPts val="0"/>
                        </a:spcBef>
                        <a:spcAft>
                          <a:spcPts val="0"/>
                        </a:spcAft>
                      </a:pPr>
                      <a:r>
                        <a:rPr sz="1600" b="1">
                          <a:solidFill>
                            <a:srgbClr val="FFFFFF"/>
                          </a:solidFill>
                          <a:latin typeface="Aptos" panose="020B0004020202020204" pitchFamily="34" charset="0"/>
                        </a:rPr>
                        <a:t>Selection Rationale</a:t>
                      </a:r>
                    </a:p>
                  </a:txBody>
                  <a:tcPr marL="73152" marR="64008" marT="22860" marB="22860" anchor="ctr">
                    <a:solidFill>
                      <a:srgbClr val="14304E"/>
                    </a:solidFill>
                  </a:tcPr>
                </a:tc>
                <a:extLst>
                  <a:ext uri="{0D108BD9-81ED-4DB2-BD59-A6C34878D82A}">
                    <a16:rowId xmlns:a16="http://schemas.microsoft.com/office/drawing/2014/main" val="1849058213"/>
                  </a:ext>
                </a:extLst>
              </a:tr>
              <a:tr h="707680">
                <a:tc>
                  <a:txBody>
                    <a:bodyPr/>
                    <a:lstStyle/>
                    <a:p>
                      <a:pPr algn="ctr">
                        <a:spcBef>
                          <a:spcPts val="0"/>
                        </a:spcBef>
                        <a:spcAft>
                          <a:spcPts val="0"/>
                        </a:spcAft>
                      </a:pPr>
                      <a:r>
                        <a:rPr sz="1600" b="1" dirty="0">
                          <a:solidFill>
                            <a:srgbClr val="232D37"/>
                          </a:solidFill>
                          <a:latin typeface="Aptos" panose="020B0004020202020204" pitchFamily="34" charset="0"/>
                        </a:rPr>
                        <a:t>Runtime</a:t>
                      </a: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Python 3.13.5</a:t>
                      </a:r>
                    </a:p>
                  </a:txBody>
                  <a:tcPr marL="73152" marR="64008" marT="22860" marB="22860" anchor="ctr">
                    <a:solidFill>
                      <a:srgbClr val="EFF4F8"/>
                    </a:solidFill>
                  </a:tcPr>
                </a:tc>
                <a:tc>
                  <a:txBody>
                    <a:bodyPr/>
                    <a:lstStyle/>
                    <a:p>
                      <a:pPr algn="ctr">
                        <a:spcBef>
                          <a:spcPts val="0"/>
                        </a:spcBef>
                        <a:spcAft>
                          <a:spcPts val="0"/>
                        </a:spcAft>
                      </a:pPr>
                      <a:r>
                        <a:rPr sz="1600" b="0">
                          <a:solidFill>
                            <a:srgbClr val="232D37"/>
                          </a:solidFill>
                          <a:latin typeface="Aptos" panose="020B0004020202020204" pitchFamily="34" charset="0"/>
                        </a:rPr>
                        <a:t>Simulation engine</a:t>
                      </a:r>
                    </a:p>
                  </a:txBody>
                  <a:tcPr marL="73152" marR="64008" marT="22860" marB="22860" anchor="ctr">
                    <a:solidFill>
                      <a:srgbClr val="EFF4F8"/>
                    </a:solidFill>
                  </a:tcPr>
                </a:tc>
                <a:tc>
                  <a:txBody>
                    <a:bodyPr/>
                    <a:lstStyle/>
                    <a:p>
                      <a:pPr algn="ctr">
                        <a:spcBef>
                          <a:spcPts val="0"/>
                        </a:spcBef>
                        <a:spcAft>
                          <a:spcPts val="0"/>
                        </a:spcAft>
                      </a:pPr>
                      <a:r>
                        <a:rPr sz="1600" b="0">
                          <a:solidFill>
                            <a:srgbClr val="232D37"/>
                          </a:solidFill>
                          <a:latin typeface="Aptos" panose="020B0004020202020204" pitchFamily="34" charset="0"/>
                        </a:rPr>
                        <a:t>Modern language features and clear simulation logic.</a:t>
                      </a:r>
                    </a:p>
                  </a:txBody>
                  <a:tcPr marL="73152" marR="64008" marT="22860" marB="22860" anchor="ctr">
                    <a:solidFill>
                      <a:srgbClr val="EFF4F8"/>
                    </a:solidFill>
                  </a:tcPr>
                </a:tc>
                <a:extLst>
                  <a:ext uri="{0D108BD9-81ED-4DB2-BD59-A6C34878D82A}">
                    <a16:rowId xmlns:a16="http://schemas.microsoft.com/office/drawing/2014/main" val="935789067"/>
                  </a:ext>
                </a:extLst>
              </a:tr>
              <a:tr h="707680">
                <a:tc>
                  <a:txBody>
                    <a:bodyPr/>
                    <a:lstStyle/>
                    <a:p>
                      <a:pPr algn="ctr">
                        <a:spcBef>
                          <a:spcPts val="0"/>
                        </a:spcBef>
                        <a:spcAft>
                          <a:spcPts val="0"/>
                        </a:spcAft>
                      </a:pPr>
                      <a:r>
                        <a:rPr sz="1600" b="1" dirty="0">
                          <a:solidFill>
                            <a:srgbClr val="232D37"/>
                          </a:solidFill>
                          <a:latin typeface="Aptos" panose="020B0004020202020204" pitchFamily="34" charset="0"/>
                        </a:rPr>
                        <a:t>MAS Framework</a:t>
                      </a: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Mesa 3.5.1</a:t>
                      </a: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Agent-based modeling</a:t>
                      </a: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Provides agents, models, and discrete timesteps.</a:t>
                      </a:r>
                    </a:p>
                  </a:txBody>
                  <a:tcPr marL="73152" marR="64008" marT="22860" marB="22860" anchor="ctr">
                    <a:solidFill>
                      <a:srgbClr val="FFFFFF"/>
                    </a:solidFill>
                  </a:tcPr>
                </a:tc>
                <a:extLst>
                  <a:ext uri="{0D108BD9-81ED-4DB2-BD59-A6C34878D82A}">
                    <a16:rowId xmlns:a16="http://schemas.microsoft.com/office/drawing/2014/main" val="1953442572"/>
                  </a:ext>
                </a:extLst>
              </a:tr>
              <a:tr h="707680">
                <a:tc>
                  <a:txBody>
                    <a:bodyPr/>
                    <a:lstStyle/>
                    <a:p>
                      <a:pPr algn="ctr">
                        <a:spcBef>
                          <a:spcPts val="0"/>
                        </a:spcBef>
                        <a:spcAft>
                          <a:spcPts val="0"/>
                        </a:spcAft>
                      </a:pPr>
                      <a:r>
                        <a:rPr sz="1600" b="1">
                          <a:solidFill>
                            <a:srgbClr val="232D37"/>
                          </a:solidFill>
                          <a:latin typeface="Aptos" panose="020B0004020202020204" pitchFamily="34" charset="0"/>
                        </a:rPr>
                        <a:t>Network</a:t>
                      </a:r>
                    </a:p>
                  </a:txBody>
                  <a:tcPr marL="73152" marR="64008" marT="22860" marB="22860" anchor="ctr">
                    <a:solidFill>
                      <a:srgbClr val="EFF4F8"/>
                    </a:solidFill>
                  </a:tcPr>
                </a:tc>
                <a:tc>
                  <a:txBody>
                    <a:bodyPr/>
                    <a:lstStyle/>
                    <a:p>
                      <a:pPr algn="ctr">
                        <a:spcBef>
                          <a:spcPts val="0"/>
                        </a:spcBef>
                        <a:spcAft>
                          <a:spcPts val="0"/>
                        </a:spcAft>
                      </a:pPr>
                      <a:r>
                        <a:rPr sz="1600" b="0" dirty="0" err="1">
                          <a:solidFill>
                            <a:srgbClr val="232D37"/>
                          </a:solidFill>
                          <a:latin typeface="Aptos" panose="020B0004020202020204" pitchFamily="34" charset="0"/>
                        </a:rPr>
                        <a:t>NetworkX</a:t>
                      </a:r>
                      <a:r>
                        <a:rPr sz="1600" b="0" dirty="0">
                          <a:solidFill>
                            <a:srgbClr val="232D37"/>
                          </a:solidFill>
                          <a:latin typeface="Aptos" panose="020B0004020202020204" pitchFamily="34" charset="0"/>
                        </a:rPr>
                        <a:t> 3.</a:t>
                      </a:r>
                      <a:r>
                        <a:rPr lang="en-US" sz="1600" b="0" dirty="0">
                          <a:solidFill>
                            <a:srgbClr val="232D37"/>
                          </a:solidFill>
                          <a:latin typeface="Aptos" panose="020B0004020202020204" pitchFamily="34" charset="0"/>
                        </a:rPr>
                        <a:t>7</a:t>
                      </a:r>
                      <a:endParaRPr sz="1600" b="0" dirty="0">
                        <a:solidFill>
                          <a:srgbClr val="232D37"/>
                        </a:solidFill>
                        <a:latin typeface="Aptos" panose="020B0004020202020204" pitchFamily="34" charset="0"/>
                      </a:endParaRP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Peer communication graph</a:t>
                      </a:r>
                    </a:p>
                  </a:txBody>
                  <a:tcPr marL="73152" marR="64008" marT="22860" marB="22860" anchor="ctr">
                    <a:solidFill>
                      <a:srgbClr val="EFF4F8"/>
                    </a:solidFill>
                  </a:tcPr>
                </a:tc>
                <a:tc>
                  <a:txBody>
                    <a:bodyPr/>
                    <a:lstStyle/>
                    <a:p>
                      <a:pPr algn="ctr">
                        <a:spcBef>
                          <a:spcPts val="0"/>
                        </a:spcBef>
                        <a:spcAft>
                          <a:spcPts val="0"/>
                        </a:spcAft>
                      </a:pPr>
                      <a:r>
                        <a:rPr sz="1600" b="0">
                          <a:solidFill>
                            <a:srgbClr val="232D37"/>
                          </a:solidFill>
                          <a:latin typeface="Aptos" panose="020B0004020202020204" pitchFamily="34" charset="0"/>
                        </a:rPr>
                        <a:t>Represents decentralized prosumer connections.</a:t>
                      </a:r>
                    </a:p>
                  </a:txBody>
                  <a:tcPr marL="73152" marR="64008" marT="22860" marB="22860" anchor="ctr">
                    <a:solidFill>
                      <a:srgbClr val="EFF4F8"/>
                    </a:solidFill>
                  </a:tcPr>
                </a:tc>
                <a:extLst>
                  <a:ext uri="{0D108BD9-81ED-4DB2-BD59-A6C34878D82A}">
                    <a16:rowId xmlns:a16="http://schemas.microsoft.com/office/drawing/2014/main" val="2798100117"/>
                  </a:ext>
                </a:extLst>
              </a:tr>
              <a:tr h="707680">
                <a:tc>
                  <a:txBody>
                    <a:bodyPr/>
                    <a:lstStyle/>
                    <a:p>
                      <a:pPr algn="ctr">
                        <a:spcBef>
                          <a:spcPts val="0"/>
                        </a:spcBef>
                        <a:spcAft>
                          <a:spcPts val="0"/>
                        </a:spcAft>
                      </a:pPr>
                      <a:r>
                        <a:rPr sz="1600" b="1">
                          <a:solidFill>
                            <a:srgbClr val="232D37"/>
                          </a:solidFill>
                          <a:latin typeface="Aptos" panose="020B0004020202020204" pitchFamily="34" charset="0"/>
                        </a:rPr>
                        <a:t>Numerics</a:t>
                      </a: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NumPy 2.</a:t>
                      </a:r>
                      <a:r>
                        <a:rPr lang="en-US" sz="1600" b="0" dirty="0">
                          <a:solidFill>
                            <a:srgbClr val="232D37"/>
                          </a:solidFill>
                          <a:latin typeface="Aptos" panose="020B0004020202020204" pitchFamily="34" charset="0"/>
                        </a:rPr>
                        <a:t>5.1</a:t>
                      </a:r>
                      <a:endParaRPr sz="1600" b="0" dirty="0">
                        <a:solidFill>
                          <a:srgbClr val="232D37"/>
                        </a:solidFill>
                        <a:latin typeface="Aptos" panose="020B0004020202020204" pitchFamily="34" charset="0"/>
                      </a:endParaRP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Solar and battery calculations</a:t>
                      </a: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Efficient numerical operations for energy balance.</a:t>
                      </a:r>
                    </a:p>
                  </a:txBody>
                  <a:tcPr marL="73152" marR="64008" marT="22860" marB="22860" anchor="ctr">
                    <a:solidFill>
                      <a:srgbClr val="FFFFFF"/>
                    </a:solidFill>
                  </a:tcPr>
                </a:tc>
                <a:extLst>
                  <a:ext uri="{0D108BD9-81ED-4DB2-BD59-A6C34878D82A}">
                    <a16:rowId xmlns:a16="http://schemas.microsoft.com/office/drawing/2014/main" val="784697181"/>
                  </a:ext>
                </a:extLst>
              </a:tr>
              <a:tr h="707680">
                <a:tc>
                  <a:txBody>
                    <a:bodyPr/>
                    <a:lstStyle/>
                    <a:p>
                      <a:pPr algn="ctr">
                        <a:spcBef>
                          <a:spcPts val="0"/>
                        </a:spcBef>
                        <a:spcAft>
                          <a:spcPts val="0"/>
                        </a:spcAft>
                      </a:pPr>
                      <a:r>
                        <a:rPr sz="1600" b="1">
                          <a:solidFill>
                            <a:srgbClr val="232D37"/>
                          </a:solidFill>
                          <a:latin typeface="Aptos" panose="020B0004020202020204" pitchFamily="34" charset="0"/>
                        </a:rPr>
                        <a:t>Testing</a:t>
                      </a:r>
                    </a:p>
                  </a:txBody>
                  <a:tcPr marL="73152" marR="64008" marT="22860" marB="22860" anchor="ctr">
                    <a:solidFill>
                      <a:srgbClr val="EFF4F8"/>
                    </a:solidFill>
                  </a:tcPr>
                </a:tc>
                <a:tc>
                  <a:txBody>
                    <a:bodyPr/>
                    <a:lstStyle/>
                    <a:p>
                      <a:pPr algn="ctr">
                        <a:spcBef>
                          <a:spcPts val="0"/>
                        </a:spcBef>
                        <a:spcAft>
                          <a:spcPts val="0"/>
                        </a:spcAft>
                      </a:pPr>
                      <a:r>
                        <a:rPr sz="1600" b="0">
                          <a:solidFill>
                            <a:srgbClr val="232D37"/>
                          </a:solidFill>
                          <a:latin typeface="Aptos" panose="020B0004020202020204" pitchFamily="34" charset="0"/>
                        </a:rPr>
                        <a:t>Pytest 9.1.1</a:t>
                      </a: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Automated verification</a:t>
                      </a: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Tests agent logic, negotiation, and A* planning. (</a:t>
                      </a:r>
                      <a:r>
                        <a:rPr lang="en-US" sz="1600" b="0" dirty="0">
                          <a:solidFill>
                            <a:srgbClr val="232D37"/>
                          </a:solidFill>
                          <a:latin typeface="Aptos" panose="020B0004020202020204" pitchFamily="34" charset="0"/>
                        </a:rPr>
                        <a:t>112</a:t>
                      </a:r>
                      <a:r>
                        <a:rPr sz="1600" b="0" dirty="0">
                          <a:solidFill>
                            <a:srgbClr val="232D37"/>
                          </a:solidFill>
                          <a:latin typeface="Aptos" panose="020B0004020202020204" pitchFamily="34" charset="0"/>
                        </a:rPr>
                        <a:t> tests reported)</a:t>
                      </a:r>
                    </a:p>
                  </a:txBody>
                  <a:tcPr marL="73152" marR="64008" marT="22860" marB="22860" anchor="ctr">
                    <a:solidFill>
                      <a:srgbClr val="EFF4F8"/>
                    </a:solidFill>
                  </a:tcPr>
                </a:tc>
                <a:extLst>
                  <a:ext uri="{0D108BD9-81ED-4DB2-BD59-A6C34878D82A}">
                    <a16:rowId xmlns:a16="http://schemas.microsoft.com/office/drawing/2014/main" val="1498788886"/>
                  </a:ext>
                </a:extLst>
              </a:tr>
              <a:tr h="707680">
                <a:tc>
                  <a:txBody>
                    <a:bodyPr/>
                    <a:lstStyle/>
                    <a:p>
                      <a:pPr algn="ctr">
                        <a:spcBef>
                          <a:spcPts val="0"/>
                        </a:spcBef>
                        <a:spcAft>
                          <a:spcPts val="0"/>
                        </a:spcAft>
                      </a:pPr>
                      <a:r>
                        <a:rPr sz="1600" b="1">
                          <a:solidFill>
                            <a:srgbClr val="232D37"/>
                          </a:solidFill>
                          <a:latin typeface="Aptos" panose="020B0004020202020204" pitchFamily="34" charset="0"/>
                        </a:rPr>
                        <a:t>Dashboard</a:t>
                      </a:r>
                    </a:p>
                  </a:txBody>
                  <a:tcPr marL="73152" marR="64008" marT="22860" marB="22860" anchor="ctr">
                    <a:solidFill>
                      <a:srgbClr val="FFFFFF"/>
                    </a:solidFill>
                  </a:tcPr>
                </a:tc>
                <a:tc>
                  <a:txBody>
                    <a:bodyPr/>
                    <a:lstStyle/>
                    <a:p>
                      <a:pPr algn="ctr">
                        <a:spcBef>
                          <a:spcPts val="0"/>
                        </a:spcBef>
                        <a:spcAft>
                          <a:spcPts val="0"/>
                        </a:spcAft>
                      </a:pPr>
                      <a:r>
                        <a:rPr sz="1600" b="0">
                          <a:solidFill>
                            <a:srgbClr val="232D37"/>
                          </a:solidFill>
                          <a:latin typeface="Aptos" panose="020B0004020202020204" pitchFamily="34" charset="0"/>
                        </a:rPr>
                        <a:t>HTML5, CSS3, JS</a:t>
                      </a: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Browser-based SCADA UI</a:t>
                      </a: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Runs in browser without a frontend build toolchain.</a:t>
                      </a:r>
                    </a:p>
                  </a:txBody>
                  <a:tcPr marL="73152" marR="64008" marT="22860" marB="22860" anchor="ctr">
                    <a:solidFill>
                      <a:srgbClr val="FFFFFF"/>
                    </a:solidFill>
                  </a:tcPr>
                </a:tc>
                <a:extLst>
                  <a:ext uri="{0D108BD9-81ED-4DB2-BD59-A6C34878D82A}">
                    <a16:rowId xmlns:a16="http://schemas.microsoft.com/office/drawing/2014/main" val="2888066719"/>
                  </a:ext>
                </a:extLst>
              </a:tr>
              <a:tr h="707680">
                <a:tc>
                  <a:txBody>
                    <a:bodyPr/>
                    <a:lstStyle/>
                    <a:p>
                      <a:pPr algn="ctr">
                        <a:spcBef>
                          <a:spcPts val="0"/>
                        </a:spcBef>
                        <a:spcAft>
                          <a:spcPts val="0"/>
                        </a:spcAft>
                      </a:pPr>
                      <a:r>
                        <a:rPr sz="1600" b="1">
                          <a:solidFill>
                            <a:srgbClr val="232D37"/>
                          </a:solidFill>
                          <a:latin typeface="Aptos" panose="020B0004020202020204" pitchFamily="34" charset="0"/>
                        </a:rPr>
                        <a:t>Visualization</a:t>
                      </a:r>
                    </a:p>
                  </a:txBody>
                  <a:tcPr marL="73152" marR="64008" marT="22860" marB="22860" anchor="ctr">
                    <a:solidFill>
                      <a:srgbClr val="EFF4F8"/>
                    </a:solidFill>
                  </a:tcPr>
                </a:tc>
                <a:tc>
                  <a:txBody>
                    <a:bodyPr/>
                    <a:lstStyle/>
                    <a:p>
                      <a:pPr algn="ctr">
                        <a:spcBef>
                          <a:spcPts val="0"/>
                        </a:spcBef>
                        <a:spcAft>
                          <a:spcPts val="0"/>
                        </a:spcAft>
                      </a:pPr>
                      <a:r>
                        <a:rPr sz="1600" b="0">
                          <a:solidFill>
                            <a:srgbClr val="232D37"/>
                          </a:solidFill>
                          <a:latin typeface="Aptos" panose="020B0004020202020204" pitchFamily="34" charset="0"/>
                        </a:rPr>
                        <a:t>Canvas + SVG</a:t>
                      </a: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Charts and power-flow display</a:t>
                      </a: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Renders dispatch curves and animated flow indicators.</a:t>
                      </a:r>
                    </a:p>
                  </a:txBody>
                  <a:tcPr marL="73152" marR="64008" marT="22860" marB="22860" anchor="ctr">
                    <a:solidFill>
                      <a:srgbClr val="EFF4F8"/>
                    </a:solidFill>
                  </a:tcPr>
                </a:tc>
                <a:extLst>
                  <a:ext uri="{0D108BD9-81ED-4DB2-BD59-A6C34878D82A}">
                    <a16:rowId xmlns:a16="http://schemas.microsoft.com/office/drawing/2014/main" val="4247816766"/>
                  </a:ext>
                </a:extLst>
              </a:tr>
              <a:tr h="707680">
                <a:tc>
                  <a:txBody>
                    <a:bodyPr/>
                    <a:lstStyle/>
                    <a:p>
                      <a:pPr algn="ctr">
                        <a:spcBef>
                          <a:spcPts val="0"/>
                        </a:spcBef>
                        <a:spcAft>
                          <a:spcPts val="0"/>
                        </a:spcAft>
                      </a:pPr>
                      <a:r>
                        <a:rPr sz="1600" b="1">
                          <a:solidFill>
                            <a:srgbClr val="232D37"/>
                          </a:solidFill>
                          <a:latin typeface="Aptos" panose="020B0004020202020204" pitchFamily="34" charset="0"/>
                        </a:rPr>
                        <a:t>Communication</a:t>
                      </a:r>
                    </a:p>
                  </a:txBody>
                  <a:tcPr marL="73152" marR="64008" marT="22860" marB="22860" anchor="ctr">
                    <a:solidFill>
                      <a:srgbClr val="FFFFFF"/>
                    </a:solidFill>
                  </a:tcPr>
                </a:tc>
                <a:tc>
                  <a:txBody>
                    <a:bodyPr/>
                    <a:lstStyle/>
                    <a:p>
                      <a:pPr algn="ctr">
                        <a:spcBef>
                          <a:spcPts val="0"/>
                        </a:spcBef>
                        <a:spcAft>
                          <a:spcPts val="0"/>
                        </a:spcAft>
                      </a:pPr>
                      <a:r>
                        <a:rPr sz="1600" b="0">
                          <a:solidFill>
                            <a:srgbClr val="232D37"/>
                          </a:solidFill>
                          <a:latin typeface="Aptos" panose="020B0004020202020204" pitchFamily="34" charset="0"/>
                        </a:rPr>
                        <a:t>FIPA ACL</a:t>
                      </a:r>
                    </a:p>
                  </a:txBody>
                  <a:tcPr marL="73152" marR="64008" marT="22860" marB="22860" anchor="ctr">
                    <a:solidFill>
                      <a:srgbClr val="FFFFFF"/>
                    </a:solidFill>
                  </a:tcPr>
                </a:tc>
                <a:tc>
                  <a:txBody>
                    <a:bodyPr/>
                    <a:lstStyle/>
                    <a:p>
                      <a:pPr algn="ctr">
                        <a:spcBef>
                          <a:spcPts val="0"/>
                        </a:spcBef>
                        <a:spcAft>
                          <a:spcPts val="0"/>
                        </a:spcAft>
                      </a:pPr>
                      <a:r>
                        <a:rPr sz="1600" b="0">
                          <a:solidFill>
                            <a:srgbClr val="232D37"/>
                          </a:solidFill>
                          <a:latin typeface="Aptos" panose="020B0004020202020204" pitchFamily="34" charset="0"/>
                        </a:rPr>
                        <a:t>Agent message structure</a:t>
                      </a:r>
                    </a:p>
                  </a:txBody>
                  <a:tcPr marL="73152" marR="64008" marT="22860" marB="22860" anchor="ctr">
                    <a:solidFill>
                      <a:srgbClr val="FFFFFF"/>
                    </a:solidFill>
                  </a:tcPr>
                </a:tc>
                <a:tc>
                  <a:txBody>
                    <a:bodyPr/>
                    <a:lstStyle/>
                    <a:p>
                      <a:pPr algn="ctr">
                        <a:spcBef>
                          <a:spcPts val="0"/>
                        </a:spcBef>
                        <a:spcAft>
                          <a:spcPts val="0"/>
                        </a:spcAft>
                      </a:pPr>
                      <a:r>
                        <a:rPr sz="1600" b="0" dirty="0">
                          <a:solidFill>
                            <a:srgbClr val="232D37"/>
                          </a:solidFill>
                          <a:latin typeface="Aptos" panose="020B0004020202020204" pitchFamily="34" charset="0"/>
                        </a:rPr>
                        <a:t>Uses REQUEST, OFFER, ACCEPT, and REJECT message types.</a:t>
                      </a:r>
                    </a:p>
                  </a:txBody>
                  <a:tcPr marL="73152" marR="64008" marT="22860" marB="22860" anchor="ctr">
                    <a:solidFill>
                      <a:srgbClr val="FFFFFF"/>
                    </a:solidFill>
                  </a:tcPr>
                </a:tc>
                <a:extLst>
                  <a:ext uri="{0D108BD9-81ED-4DB2-BD59-A6C34878D82A}">
                    <a16:rowId xmlns:a16="http://schemas.microsoft.com/office/drawing/2014/main" val="3371202702"/>
                  </a:ext>
                </a:extLst>
              </a:tr>
              <a:tr h="707680">
                <a:tc>
                  <a:txBody>
                    <a:bodyPr/>
                    <a:lstStyle/>
                    <a:p>
                      <a:pPr algn="ctr">
                        <a:spcBef>
                          <a:spcPts val="0"/>
                        </a:spcBef>
                        <a:spcAft>
                          <a:spcPts val="0"/>
                        </a:spcAft>
                      </a:pPr>
                      <a:r>
                        <a:rPr sz="1600" b="1">
                          <a:solidFill>
                            <a:srgbClr val="232D37"/>
                          </a:solidFill>
                          <a:latin typeface="Aptos" panose="020B0004020202020204" pitchFamily="34" charset="0"/>
                        </a:rPr>
                        <a:t>Data</a:t>
                      </a: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CSV / JSON</a:t>
                      </a: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Benchmark input and output</a:t>
                      </a:r>
                    </a:p>
                  </a:txBody>
                  <a:tcPr marL="73152" marR="64008" marT="22860" marB="22860" anchor="ctr">
                    <a:solidFill>
                      <a:srgbClr val="EFF4F8"/>
                    </a:solidFill>
                  </a:tcPr>
                </a:tc>
                <a:tc>
                  <a:txBody>
                    <a:bodyPr/>
                    <a:lstStyle/>
                    <a:p>
                      <a:pPr algn="ctr">
                        <a:spcBef>
                          <a:spcPts val="0"/>
                        </a:spcBef>
                        <a:spcAft>
                          <a:spcPts val="0"/>
                        </a:spcAft>
                      </a:pPr>
                      <a:r>
                        <a:rPr sz="1600" b="0" dirty="0">
                          <a:solidFill>
                            <a:srgbClr val="232D37"/>
                          </a:solidFill>
                          <a:latin typeface="Aptos" panose="020B0004020202020204" pitchFamily="34" charset="0"/>
                        </a:rPr>
                        <a:t>Includes benchmark_microgrid_dataset.csv</a:t>
                      </a:r>
                      <a:r>
                        <a:rPr lang="en-US" sz="1600" b="0" dirty="0">
                          <a:solidFill>
                            <a:srgbClr val="232D37"/>
                          </a:solidFill>
                          <a:latin typeface="Aptos" panose="020B0004020202020204" pitchFamily="34" charset="0"/>
                        </a:rPr>
                        <a:t> and </a:t>
                      </a:r>
                      <a:r>
                        <a:rPr lang="en-US" sz="1600" b="0" dirty="0" err="1">
                          <a:solidFill>
                            <a:srgbClr val="232D37"/>
                          </a:solidFill>
                          <a:latin typeface="Aptos" panose="020B0004020202020204" pitchFamily="34" charset="0"/>
                        </a:rPr>
                        <a:t>dashboard_data.json</a:t>
                      </a:r>
                      <a:endParaRPr sz="1600" b="0" dirty="0">
                        <a:solidFill>
                          <a:srgbClr val="232D37"/>
                        </a:solidFill>
                        <a:latin typeface="Aptos" panose="020B0004020202020204" pitchFamily="34" charset="0"/>
                      </a:endParaRPr>
                    </a:p>
                  </a:txBody>
                  <a:tcPr marL="73152" marR="64008" marT="22860" marB="22860" anchor="ctr">
                    <a:solidFill>
                      <a:srgbClr val="EFF4F8"/>
                    </a:solidFill>
                  </a:tcPr>
                </a:tc>
                <a:extLst>
                  <a:ext uri="{0D108BD9-81ED-4DB2-BD59-A6C34878D82A}">
                    <a16:rowId xmlns:a16="http://schemas.microsoft.com/office/drawing/2014/main" val="350156298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home/claude/work/bg.jpeg">
            <a:extLst>
              <a:ext uri="{FF2B5EF4-FFF2-40B4-BE49-F238E27FC236}">
                <a16:creationId xmlns:a16="http://schemas.microsoft.com/office/drawing/2014/main" id="{5CF7B42C-6E7E-2E7A-6077-124288A72A7D}"/>
              </a:ext>
            </a:extLst>
          </p:cNvPr>
          <p:cNvPicPr>
            <a:picLocks noChangeAspect="1"/>
          </p:cNvPicPr>
          <p:nvPr/>
        </p:nvPicPr>
        <p:blipFill>
          <a:blip r:embed="rId2"/>
          <a:stretch>
            <a:fillRect/>
          </a:stretch>
        </p:blipFill>
        <p:spPr>
          <a:xfrm>
            <a:off x="0" y="0"/>
            <a:ext cx="18288000" cy="10287000"/>
          </a:xfrm>
          <a:prstGeom prst="rect">
            <a:avLst/>
          </a:prstGeom>
        </p:spPr>
      </p:pic>
      <p:sp>
        <p:nvSpPr>
          <p:cNvPr id="5" name="TextBox 4">
            <a:extLst>
              <a:ext uri="{FF2B5EF4-FFF2-40B4-BE49-F238E27FC236}">
                <a16:creationId xmlns:a16="http://schemas.microsoft.com/office/drawing/2014/main" id="{ED882CEF-7263-D98F-3C3A-A3FD21C1EF18}"/>
              </a:ext>
            </a:extLst>
          </p:cNvPr>
          <p:cNvSpPr txBox="1"/>
          <p:nvPr/>
        </p:nvSpPr>
        <p:spPr>
          <a:xfrm>
            <a:off x="8987246" y="9644853"/>
            <a:ext cx="9144000" cy="461665"/>
          </a:xfrm>
          <a:prstGeom prst="rect">
            <a:avLst/>
          </a:prstGeom>
          <a:noFill/>
        </p:spPr>
        <p:txBody>
          <a:bodyPr wrap="square">
            <a:spAutoFit/>
          </a:bodyPr>
          <a:lstStyle/>
          <a:p>
            <a:pPr marL="0" indent="0" algn="r">
              <a:buNone/>
            </a:pPr>
            <a:r>
              <a:rPr lang="en-US" sz="2400" dirty="0">
                <a:solidFill>
                  <a:srgbClr val="FFFFFF"/>
                </a:solidFill>
                <a:latin typeface="Calibri" pitchFamily="34" charset="0"/>
                <a:ea typeface="Calibri" pitchFamily="34" charset="-122"/>
                <a:cs typeface="Calibri" pitchFamily="34" charset="-120"/>
              </a:rPr>
              <a:t>Page 12</a:t>
            </a:r>
            <a:endParaRPr lang="en-US" sz="2400" dirty="0"/>
          </a:p>
        </p:txBody>
      </p:sp>
      <p:sp>
        <p:nvSpPr>
          <p:cNvPr id="4" name="TextBox 3">
            <a:extLst>
              <a:ext uri="{FF2B5EF4-FFF2-40B4-BE49-F238E27FC236}">
                <a16:creationId xmlns:a16="http://schemas.microsoft.com/office/drawing/2014/main" id="{A6693E74-DAFE-DB13-C6FC-0158923FF86E}"/>
              </a:ext>
            </a:extLst>
          </p:cNvPr>
          <p:cNvSpPr txBox="1"/>
          <p:nvPr/>
        </p:nvSpPr>
        <p:spPr>
          <a:xfrm>
            <a:off x="4415246" y="210508"/>
            <a:ext cx="9144000" cy="707886"/>
          </a:xfrm>
          <a:prstGeom prst="rect">
            <a:avLst/>
          </a:prstGeom>
          <a:noFill/>
        </p:spPr>
        <p:txBody>
          <a:bodyPr wrap="square">
            <a:spAutoFit/>
          </a:bodyPr>
          <a:lstStyle/>
          <a:p>
            <a:pPr marL="0" indent="0" algn="ctr">
              <a:buNone/>
            </a:pPr>
            <a:r>
              <a:rPr lang="en-US" sz="4000" b="1" dirty="0">
                <a:solidFill>
                  <a:schemeClr val="bg1"/>
                </a:solidFill>
                <a:latin typeface="Arial" panose="020B0604020202020204" pitchFamily="34" charset="0"/>
                <a:cs typeface="Arial" panose="020B0604020202020204" pitchFamily="34" charset="0"/>
              </a:rPr>
              <a:t>MULTI AGENT -INTERACTION</a:t>
            </a:r>
          </a:p>
        </p:txBody>
      </p:sp>
      <p:pic>
        <p:nvPicPr>
          <p:cNvPr id="9" name="Picture 8">
            <a:extLst>
              <a:ext uri="{FF2B5EF4-FFF2-40B4-BE49-F238E27FC236}">
                <a16:creationId xmlns:a16="http://schemas.microsoft.com/office/drawing/2014/main" id="{ABB54C19-33E7-4B21-B501-9D79A1BF9A03}"/>
              </a:ext>
            </a:extLst>
          </p:cNvPr>
          <p:cNvPicPr>
            <a:picLocks noChangeAspect="1"/>
          </p:cNvPicPr>
          <p:nvPr/>
        </p:nvPicPr>
        <p:blipFill>
          <a:blip r:embed="rId3"/>
          <a:stretch>
            <a:fillRect/>
          </a:stretch>
        </p:blipFill>
        <p:spPr>
          <a:xfrm>
            <a:off x="2585122" y="1329225"/>
            <a:ext cx="13117756" cy="7628550"/>
          </a:xfrm>
          <a:prstGeom prst="rect">
            <a:avLst/>
          </a:prstGeom>
        </p:spPr>
      </p:pic>
    </p:spTree>
    <p:extLst>
      <p:ext uri="{BB962C8B-B14F-4D97-AF65-F5344CB8AC3E}">
        <p14:creationId xmlns:p14="http://schemas.microsoft.com/office/powerpoint/2010/main" val="1227390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740</TotalTime>
  <Words>1053</Words>
  <Application>Microsoft Office PowerPoint</Application>
  <PresentationFormat>Custom</PresentationFormat>
  <Paragraphs>152</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Saurav Gopinath E K</cp:lastModifiedBy>
  <cp:revision>36</cp:revision>
  <dcterms:created xsi:type="dcterms:W3CDTF">2026-09-25T02:13:57Z</dcterms:created>
  <dcterms:modified xsi:type="dcterms:W3CDTF">2026-09-30T03:25:33Z</dcterms:modified>
</cp:coreProperties>
</file>